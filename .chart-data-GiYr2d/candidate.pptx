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8444547e334a7c" /><Relationship Type="http://schemas.openxmlformats.org/officeDocument/2006/relationships/extended-properties" Target="/docProps/app.xml" Id="R579764c9edc94b07" /><Relationship Type="http://schemas.openxmlformats.org/officeDocument/2006/relationships/officeDocument" Target="/ppt/presentation.xml" Id="R200804f8539047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103fd22e4e4394"/>
  </p:sldMasterIdLst>
  <p:notesMasterIdLst>
    <p:notesMasterId xmlns:r="http://schemas.openxmlformats.org/officeDocument/2006/relationships" r:id="Rbd683e458aa8488f"/>
  </p:notesMasterIdLst>
  <p:sldIdLst>
    <p:sldId xmlns:r="http://schemas.openxmlformats.org/officeDocument/2006/relationships" id="256" r:id="R5369cce52e854903"/>
    <p:sldId xmlns:r="http://schemas.openxmlformats.org/officeDocument/2006/relationships" id="257" r:id="Rf27d3724f2d74009"/>
    <p:sldId xmlns:r="http://schemas.openxmlformats.org/officeDocument/2006/relationships" id="258" r:id="R9948772f974a41e9"/>
    <p:sldId xmlns:r="http://schemas.openxmlformats.org/officeDocument/2006/relationships" id="259" r:id="Rb6fa494977854166"/>
    <p:sldId xmlns:r="http://schemas.openxmlformats.org/officeDocument/2006/relationships" id="260" r:id="R77e5ebbc7f3c4489"/>
    <p:sldId xmlns:r="http://schemas.openxmlformats.org/officeDocument/2006/relationships" id="261" r:id="Rb96514098cff416a"/>
    <p:sldId xmlns:r="http://schemas.openxmlformats.org/officeDocument/2006/relationships" id="262" r:id="Rbf223c7600b040d6"/>
    <p:sldId xmlns:r="http://schemas.openxmlformats.org/officeDocument/2006/relationships" id="263" r:id="R70689c1da3b94bc2"/>
    <p:sldId xmlns:r="http://schemas.openxmlformats.org/officeDocument/2006/relationships" id="264" r:id="R672f0d8ed99c4552"/>
    <p:sldId xmlns:r="http://schemas.openxmlformats.org/officeDocument/2006/relationships" id="265" r:id="R8ca3e94ef3404bd7"/>
    <p:sldId xmlns:r="http://schemas.openxmlformats.org/officeDocument/2006/relationships" id="266" r:id="Rbb8b19c3438144ec"/>
    <p:sldId xmlns:r="http://schemas.openxmlformats.org/officeDocument/2006/relationships" id="267" r:id="Rb39e03756cb04f4d"/>
    <p:sldId xmlns:r="http://schemas.openxmlformats.org/officeDocument/2006/relationships" id="268" r:id="R371697a6c4bc4ada"/>
    <p:sldId xmlns:r="http://schemas.openxmlformats.org/officeDocument/2006/relationships" id="269" r:id="Re2d6076958dc4898"/>
    <p:sldId xmlns:r="http://schemas.openxmlformats.org/officeDocument/2006/relationships" id="270" r:id="R9c3cc45c71544b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f155a1418f4227" /><Relationship Type="http://schemas.openxmlformats.org/officeDocument/2006/relationships/slideMaster" Target="/ppt/slideMasters/slideMaster1.xml" Id="Rae103fd22e4e4394" /><Relationship Type="http://schemas.openxmlformats.org/officeDocument/2006/relationships/notesMaster" Target="/ppt/notesMasters/notesMaster1.xml" Id="Rbd683e458aa8488f" /><Relationship Type="http://schemas.openxmlformats.org/officeDocument/2006/relationships/presProps" Target="/ppt/presProps.xml" Id="R5fee21118eff403f" /><Relationship Type="http://schemas.openxmlformats.org/officeDocument/2006/relationships/tableStyles" Target="/ppt/tableStyles.xml" Id="Ra1752432bc534d28" /><Relationship Type="http://schemas.openxmlformats.org/officeDocument/2006/relationships/slide" Target="/ppt/slides/slide1.xml" Id="R5369cce52e854903" /><Relationship Type="http://schemas.openxmlformats.org/officeDocument/2006/relationships/slide" Target="/ppt/slides/slide2.xml" Id="Rf27d3724f2d74009" /><Relationship Type="http://schemas.openxmlformats.org/officeDocument/2006/relationships/slide" Target="/ppt/slides/slide3.xml" Id="R9948772f974a41e9" /><Relationship Type="http://schemas.openxmlformats.org/officeDocument/2006/relationships/slide" Target="/ppt/slides/slide4.xml" Id="Rb6fa494977854166" /><Relationship Type="http://schemas.openxmlformats.org/officeDocument/2006/relationships/slide" Target="/ppt/slides/slide5.xml" Id="R77e5ebbc7f3c4489" /><Relationship Type="http://schemas.openxmlformats.org/officeDocument/2006/relationships/slide" Target="/ppt/slides/slide6.xml" Id="Rb96514098cff416a" /><Relationship Type="http://schemas.openxmlformats.org/officeDocument/2006/relationships/slide" Target="/ppt/slides/slide7.xml" Id="Rbf223c7600b040d6" /><Relationship Type="http://schemas.openxmlformats.org/officeDocument/2006/relationships/slide" Target="/ppt/slides/slide8.xml" Id="R70689c1da3b94bc2" /><Relationship Type="http://schemas.openxmlformats.org/officeDocument/2006/relationships/slide" Target="/ppt/slides/slide9.xml" Id="R672f0d8ed99c4552" /><Relationship Type="http://schemas.openxmlformats.org/officeDocument/2006/relationships/slide" Target="/ppt/slides/slide10.xml" Id="R8ca3e94ef3404bd7" /><Relationship Type="http://schemas.openxmlformats.org/officeDocument/2006/relationships/slide" Target="/ppt/slides/slide11.xml" Id="Rbb8b19c3438144ec" /><Relationship Type="http://schemas.openxmlformats.org/officeDocument/2006/relationships/slide" Target="/ppt/slides/slide12.xml" Id="Rb39e03756cb04f4d" /><Relationship Type="http://schemas.openxmlformats.org/officeDocument/2006/relationships/slide" Target="/ppt/slides/slide13.xml" Id="R371697a6c4bc4ada" /><Relationship Type="http://schemas.openxmlformats.org/officeDocument/2006/relationships/slide" Target="/ppt/slides/slide14.xml" Id="Re2d6076958dc4898" /><Relationship Type="http://schemas.openxmlformats.org/officeDocument/2006/relationships/slide" Target="/ppt/slides/slide15.xml" Id="R9c3cc45c7154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5f8d46c314c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8e0bf1a434444" /><Relationship Type="http://schemas.openxmlformats.org/officeDocument/2006/relationships/notesMaster" Target="/ppt/notesMasters/notesMaster1.xml" Id="R87e08706b6c544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161f68c08747a4" /><Relationship Type="http://schemas.openxmlformats.org/officeDocument/2006/relationships/notesMaster" Target="/ppt/notesMasters/notesMaster1.xml" Id="R01725375c56b42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c630c2027a4401" /><Relationship Type="http://schemas.openxmlformats.org/officeDocument/2006/relationships/notesMaster" Target="/ppt/notesMasters/notesMaster1.xml" Id="R4a337269c4d547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ce31d81fc94c45" /><Relationship Type="http://schemas.openxmlformats.org/officeDocument/2006/relationships/notesMaster" Target="/ppt/notesMasters/notesMaster1.xml" Id="R33efab14ab1843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6c86f272be485e" /><Relationship Type="http://schemas.openxmlformats.org/officeDocument/2006/relationships/notesMaster" Target="/ppt/notesMasters/notesMaster1.xml" Id="R889db9f420a642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b212b28971456a" /><Relationship Type="http://schemas.openxmlformats.org/officeDocument/2006/relationships/notesMaster" Target="/ppt/notesMasters/notesMaster1.xml" Id="R4c7b48da3f1b40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12d8a3a1d4274" /><Relationship Type="http://schemas.openxmlformats.org/officeDocument/2006/relationships/notesMaster" Target="/ppt/notesMasters/notesMaster1.xml" Id="Rdc740ce556224c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64ecdca2524f35" /><Relationship Type="http://schemas.openxmlformats.org/officeDocument/2006/relationships/notesMaster" Target="/ppt/notesMasters/notesMaster1.xml" Id="R0a1358f950794f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1c0dd5d14449cf" /><Relationship Type="http://schemas.openxmlformats.org/officeDocument/2006/relationships/notesMaster" Target="/ppt/notesMasters/notesMaster1.xml" Id="R751af7bbba804e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044c139cb4349" /><Relationship Type="http://schemas.openxmlformats.org/officeDocument/2006/relationships/notesMaster" Target="/ppt/notesMasters/notesMaster1.xml" Id="R3d04d528e89b46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2e85e4bb354086" /><Relationship Type="http://schemas.openxmlformats.org/officeDocument/2006/relationships/notesMaster" Target="/ppt/notesMasters/notesMaster1.xml" Id="Re05eda9048b14d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b24f12eccc4734" /><Relationship Type="http://schemas.openxmlformats.org/officeDocument/2006/relationships/notesMaster" Target="/ppt/notesMasters/notesMaster1.xml" Id="R761f16b6c8664b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c79a1eccfb4001" /><Relationship Type="http://schemas.openxmlformats.org/officeDocument/2006/relationships/notesMaster" Target="/ppt/notesMasters/notesMaster1.xml" Id="Rf27ab556d9be41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ce41578ae84a76" /><Relationship Type="http://schemas.openxmlformats.org/officeDocument/2006/relationships/notesMaster" Target="/ppt/notesMasters/notesMaster1.xml" Id="Rf7f0ac610e9d474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d024ccce194872" /><Relationship Type="http://schemas.openxmlformats.org/officeDocument/2006/relationships/notesMaster" Target="/ppt/notesMasters/notesMaster1.xml" Id="R10112eb3aafc45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基于原版 ClawHive 路演母版修订。比赛信息来自用户提供的 2026 全球智能体大赛通知；报名平台最新细则未能独立核验。项目当前核心是本地实时教练与安全监测模块，平台智能体空间仍需发布验收。</a:t>
            </a:r>
          </a:p>
          <a:p xmlns:a="http://schemas.openxmlformats.org/drawingml/2006/main">
            <a:r>
              <a:t>依据：README.md；deliverables/A赛道-设计文档.md；web_app.py；src/pipeline_safety/。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用户提供的三个场景是招聘筛选、在岗训练、工业安全。此页不使用尚无现场实测支持的 3 倍吞吐或 40% 周期缩短。</a:t>
            </a:r>
          </a:p>
          <a:p xmlns:a="http://schemas.openxmlformats.org/drawingml/2006/main">
            <a:r>
              <a:t>依据：用户提供的场景思路；README.md；config/safety/default.json。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中间和右侧保留原版真实产品截图。当前 Web 已实现 /coach、/certification 和会话 API；智能体任务分发、企业台账回写仍是接入计划。</a:t>
            </a:r>
          </a:p>
          <a:p xmlns:a="http://schemas.openxmlformats.org/drawingml/2006/main">
            <a:r>
              <a:t>依据：web_app.py；templates/coach.html；templates/certification.html。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此页沿用原版 Ghost Coach 界面截图，展示实时纠错与完整周期计数。截图是产品界面证据，不代表工业现场准确率。</a:t>
            </a:r>
          </a:p>
          <a:p xmlns:a="http://schemas.openxmlformats.org/drawingml/2006/main">
            <a:r>
              <a:t>依据：src/live_coach.py；src/ghost_coach.py；templates/index.html。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呼应当前对话的调参问题：ClawHive 或比赛智能体可辅助分析错误、提出参数候选和编排评测；现有仓库只有离线训练脚本和本地权重，尚无按租户自动训练、注册、回滚的运行时链路。规则调参不需要 GPU，小型 ST-GCN 可用 CPU，RTMPose 微调建议 GPU。</a:t>
            </a:r>
          </a:p>
          <a:p xmlns:a="http://schemas.openxmlformats.org/drawingml/2006/main">
            <a:r>
              <a:t>依据：src/train.py；model/mmfit_pose11cls_stride48_best.pth；config/posture_standards/recruit_squat_50_v1.json；deliverables/练了么-评委问答手册.md。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根据用户提供的比赛通知，A 赛道提交一个智能体空间，空间内至少 10 个有效智能体。仓库无法证明 19 个智能体已经在比赛平台发布。此页明确区分本地能力和待上架角色。若转投 B 赛道，需要另行封装至少 6 个有效 Skill。</a:t>
            </a:r>
          </a:p>
          <a:p xmlns:a="http://schemas.openxmlformats.org/drawingml/2006/main">
            <a:r>
              <a:t>依据：用户提供的比赛通知；deliverables/A赛道-设计文档.md；web_app.py；src/pipeline_safety/。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训练链路使用 RTMPose + ST-GCN + 几何规则。工业安全模块单独使用 YOLO Pose、独立 PPE 模型接口和六类规则；当前仓库没有配置路径所指向的 PPE 权重文件。两条链路共用业务场景，但并非同一个已整合的模型推理管线。</a:t>
            </a:r>
          </a:p>
          <a:p xmlns:a="http://schemas.openxmlformats.org/drawingml/2006/main">
            <a:r>
              <a:t>依据：web_app.py；src/live_coach.py；src/pipeline_safety/monitor.py；src/pipeline_safety/detector.py；config/safety/default.json。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源图为五轮训练曲线，沿用原版可编辑图表。MM-Fit 数据有 21 名受试者、8,898 个训练窗口、11 类动作。93.15% 是随机滑窗划分上的选模指标，邻近窗口可能跨训练与验证集；没有按受试者独立测试，不得对外称现场准确率。23 项 harness 测试已在本次任务重新运行通过。</a:t>
            </a:r>
          </a:p>
          <a:p xmlns:a="http://schemas.openxmlformats.org/drawingml/2006/main">
            <a:r>
              <a:t>依据：docs/real-evidence.md；docs/mmfit-retrain-summary-2026-05-29.md；npm run test 本次输出。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三层去抖来自安全规则的 duration_seconds、cooldown_seconds 与 expire_tracks。跌倒、低头静止、倒地静止均属于风险信号，不得宣称医学诊断或零误报。截图留档由配置控制，需按企业隐私政策使用。</a:t>
            </a:r>
          </a:p>
          <a:p xmlns:a="http://schemas.openxmlformats.org/drawingml/2006/main">
            <a:r>
              <a:t>依据：src/pipeline_safety/rules.py；config/safety/default.json；src/pipeline_safety/events.py。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此页是商业化假设，不应表述为已签约或已产生收入。用户提出的招聘吞吐约 3 倍、新人上手周期缩短约 40% 没有可核验试点数据，因此不写成成果。</a:t>
            </a:r>
          </a:p>
          <a:p xmlns:a="http://schemas.openxmlformats.org/drawingml/2006/main">
            <a:r>
              <a:t>依据：用户提供的落地价值设想；README.md；deliverables/练了么-投资人尽调意见书.md。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试点计划不是客户承诺。建议预设人工计数一致性、需复核率、每摄像头小时误报率、观察工时与复训后错误率等指标。报名平台有效智能体数量必须以平台反馈核验。</a:t>
            </a:r>
          </a:p>
          <a:p xmlns:a="http://schemas.openxmlformats.org/drawingml/2006/main">
            <a:r>
              <a:t>依据：用户提供赛事要求；README.md；src/pipeline_safety/。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收束到具体试点请求：一家企业、一个岗位动作、四周并行验证。避免承诺已经具备生产级安全告警或自动招聘决策。</a:t>
            </a:r>
          </a:p>
          <a:p xmlns:a="http://schemas.openxmlformats.org/drawingml/2006/main">
            <a:r>
              <a:t>依据：用户提供的新赛事方向；项目当前实现。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S1、S2 属于当前训练 Web 主链能力。S3 源码已包含安全监测、六类规则和事件接口，但独立 PPE 权重缺失，现场误报漏报尚未评估。</a:t>
            </a:r>
          </a:p>
          <a:p xmlns:a="http://schemas.openxmlformats.org/drawingml/2006/main">
            <a:r>
              <a:t>依据：web_app.py；src/live_coach.py；src/pipeline_safety/；config/safety/default.json。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此页特意把原版中仅存在于契约示例、尚无运行时代码的 best_weight_id 和 decision 移除。左侧是 web_app.py 当前会话 API；右侧是 safety_web.py 当前安全事件 API。生产级鉴权、幂等、租户隔离待实现。</a:t>
            </a:r>
          </a:p>
          <a:p xmlns:a="http://schemas.openxmlformats.org/drawingml/2006/main">
            <a:r>
              <a:t>依据：web_app.py；src/pipeline_safety/safety_web.py。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赛道官方门槛来自用户提供信息：1 个智能体空间内至少 10 个有效智能体。仓库当前只有角色方案，未见平台空间的核验证据。安全帽 PPE 模型配置路径对应权重缺失。93.15% 不是现场精度。</a:t>
            </a:r>
          </a:p>
          <a:p xmlns:a="http://schemas.openxmlformats.org/drawingml/2006/main">
            <a:r>
              <a:t>依据：用户提供通知；deliverables/A赛道-设计文档.md；docs/real-evidence.md；config/safety/default.json；web_app.py。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5cc0ebf23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24205368ad4652" /><Relationship Type="http://schemas.openxmlformats.org/officeDocument/2006/relationships/slideLayout" Target="/ppt/slideLayouts/slideLayout1.xml" Id="R45dcbdf59ef646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dcbdf59ef646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7c435fb7f4c80" /><Relationship Type="http://schemas.openxmlformats.org/officeDocument/2006/relationships/image" Target="/ppt/media/image.jpeg" Id="Re9268c4ad0044fe1" /><Relationship Type="http://schemas.openxmlformats.org/officeDocument/2006/relationships/notesSlide" Target="/ppt/notesSlides/notesSlide1.xml" Id="R922aed490a2d41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2a3e36584461" /><Relationship Type="http://schemas.openxmlformats.org/officeDocument/2006/relationships/notesSlide" Target="/ppt/notesSlides/notesSlide2.xml" Id="Rb44cc9918ee94a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4fad98bc14a45" /><Relationship Type="http://schemas.openxmlformats.org/officeDocument/2006/relationships/image" Target="/ppt/media/image2.jpeg" Id="Ra90d609aac4147d2" /><Relationship Type="http://schemas.openxmlformats.org/officeDocument/2006/relationships/image" Target="/ppt/media/image3.jpeg" Id="Rcbb3dc23330044a8" /><Relationship Type="http://schemas.openxmlformats.org/officeDocument/2006/relationships/notesSlide" Target="/ppt/notesSlides/notesSlide3.xml" Id="R834e8fb690ca44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db36307e54e1a" /><Relationship Type="http://schemas.openxmlformats.org/officeDocument/2006/relationships/image" Target="/ppt/media/image4.jpeg" Id="Rc9a2494d10374085" /><Relationship Type="http://schemas.openxmlformats.org/officeDocument/2006/relationships/notesSlide" Target="/ppt/notesSlides/notesSlide4.xml" Id="R91f57c0ed95244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439e51df24050" /><Relationship Type="http://schemas.openxmlformats.org/officeDocument/2006/relationships/notesSlide" Target="/ppt/notesSlides/notesSlide5.xml" Id="Rd6afa6d476b647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804147b444093" /><Relationship Type="http://schemas.openxmlformats.org/officeDocument/2006/relationships/notesSlide" Target="/ppt/notesSlides/notesSlide6.xml" Id="Rba373dbdf41b47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a77582fce4427" /><Relationship Type="http://schemas.openxmlformats.org/officeDocument/2006/relationships/notesSlide" Target="/ppt/notesSlides/notesSlide7.xml" Id="Rbf8edd8d0e0547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4f6666b414c89" /><Relationship Type="http://schemas.openxmlformats.org/officeDocument/2006/relationships/chart" Target="/ppt/slides/charts/chart1.xml" Id="R04a3383113894734" /><Relationship Type="http://schemas.openxmlformats.org/officeDocument/2006/relationships/notesSlide" Target="/ppt/notesSlides/notesSlide8.xml" Id="Reeb9693755f44c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ae4daec544298" /><Relationship Type="http://schemas.openxmlformats.org/officeDocument/2006/relationships/notesSlide" Target="/ppt/notesSlides/notesSlide9.xml" Id="Ra3459a763ed346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7d7cbbf914d98" /><Relationship Type="http://schemas.openxmlformats.org/officeDocument/2006/relationships/notesSlide" Target="/ppt/notesSlides/notesSlide10.xml" Id="R0841d58ee7c74c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f498b4ef54726" /><Relationship Type="http://schemas.openxmlformats.org/officeDocument/2006/relationships/notesSlide" Target="/ppt/notesSlides/notesSlide11.xml" Id="Rf240ab25927447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8f1aae8274e5b" /><Relationship Type="http://schemas.openxmlformats.org/officeDocument/2006/relationships/notesSlide" Target="/ppt/notesSlides/notesSlide12.xml" Id="R7277acc386d149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f91e749bb4598" /><Relationship Type="http://schemas.openxmlformats.org/officeDocument/2006/relationships/notesSlide" Target="/ppt/notesSlides/notesSlide13.xml" Id="Rf874205e6cb342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b3b5f45ab45b0" /><Relationship Type="http://schemas.openxmlformats.org/officeDocument/2006/relationships/notesSlide" Target="/ppt/notesSlides/notesSlide14.xml" Id="R70f5069f06774b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6618c4a6e4ee6" /><Relationship Type="http://schemas.openxmlformats.org/officeDocument/2006/relationships/notesSlide" Target="/ppt/notesSlides/notesSlide15.xml" Id="R08ee2035081a4e3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B1324"/>
                </a:solidFill>
              </a:rPr>
              <a:t>5 轮训练准确率（%）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B1324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Train</c:v>
          </c:tx>
          <c:spPr>
            <a:ln xmlns:a="http://schemas.openxmlformats.org/drawingml/2006/main" w="28575">
              <a:solidFill>
                <a:srgbClr val="2155D9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155D9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  <c:pt idx="3">
                  <c:v>Epoch 4</c:v>
                </c:pt>
                <c:pt idx="4">
                  <c:v>Epoch 5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45.83</c:v>
                </c:pt>
                <c:pt idx="1">
                  <c:v>70.78</c:v>
                </c:pt>
                <c:pt idx="2">
                  <c:v>83.49</c:v>
                </c:pt>
                <c:pt idx="3">
                  <c:v>88.74</c:v>
                </c:pt>
                <c:pt idx="4">
                  <c:v>89.46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ln xmlns:a="http://schemas.openxmlformats.org/drawingml/2006/main" w="28575">
              <a:solidFill>
                <a:srgbClr val="12B981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12B981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  <c:pt idx="3">
                  <c:v>Epoch 4</c:v>
                </c:pt>
                <c:pt idx="4">
                  <c:v>Epoch 5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47.75</c:v>
                </c:pt>
                <c:pt idx="1">
                  <c:v>73.37</c:v>
                </c:pt>
                <c:pt idx="2">
                  <c:v>84.72</c:v>
                </c:pt>
                <c:pt idx="3">
                  <c:v>86.18</c:v>
                </c:pt>
                <c:pt idx="4">
                  <c:v>93.15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9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9E2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solidFill>
              <a:srgbClr val="F7F8F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2072C-0581-425A-8536-6E5838FC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781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7A55D-C1D9-4E98-A878-E9BB9329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2026 GLOBAL AGENT COMPETITION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7B6D2-C248-4713-8E5E-A21167C3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429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91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让 ClawHive 的数字员工</a:t>
            </a:r>
          </a:p>
          <a:p xmlns:a="http://schemas.openxmlformats.org/drawingml/2006/main">
            <a:pPr algn="l">
              <a:buNone/>
              <a:def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真正看见现场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8BCC4-556C-4174-A45B-DD1382A0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练了么｜企业现场动作数字员工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D2E3B-48DA-42DE-A97D-07028B1E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普通摄像头完成实时计数、即时纠错和风险提醒；训练与安全事件留下可复核记录。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9C1A5-9A96-4A9F-BDC6-D63D4B7A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3C6A4-C790-4584-824D-41650B98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2026 全球智能体大赛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52607-82AE-42F7-9914-E1309F5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 赛道｜智能体搭建赛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EEB1E-92AB-4880-BA71-F60091AE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"/>
            <a:ext cx="5181600" cy="5848350"/>
          </a:xfrm>
          <a:prstGeom xmlns:a="http://schemas.openxmlformats.org/drawingml/2006/main" prst="roundRect">
            <a:avLst>
              <a:gd name="adj" fmla="val 2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68c4ad0044fe1"/>
          <a:srcRect xmlns:a="http://schemas.openxmlformats.org/drawingml/2006/main" l="25116" t="0" r="25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457200"/>
            <a:ext cx="5143500" cy="58102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</p:spTree>
    <p:extLst>
      <p:ext uri="{BB962C8B-B14F-4D97-AF65-F5344CB8AC3E}">
        <p14:creationId xmlns:p14="http://schemas.microsoft.com/office/powerpoint/2010/main" val="1969223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C35E0C-F465-4F9A-96E3-D0225A82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FIELD BOTTLENECK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37A75-EDA2-4879-90FF-C61F3C89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企业现场缺的，是持续看动作的人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5D1D3-84C2-4DD6-8073-4F3018C6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C622B-D9D5-42BD-BDA3-80A1BCBE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68F2A-2B23-43F8-894E-14AC1AB0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81"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3 ×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02C44-CF10-42E3-BDBA-34FA0899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三段现场任务 × 一套视觉能力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B62AF-0836-4090-9B96-E0298BBF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招聘、在岗训练与安全巡检共享动作观察需求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1A294-A342-4D1F-B3B5-A1121091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390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7E785-137A-4F88-BAA5-DEB7D039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采购前先测现场指标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E67BB-9C63-4DCC-8E8B-AD8FE62C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每百人考官工时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AI / 人工计数一致性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需复核率与争议处理时长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150B7-28A3-4088-A0F6-D640FF75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72C6C-6435-43B7-B60A-2176677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招聘筛选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EB511-9D41-4821-AF14-6F582F7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考官逐人观察与登记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98271-3487-4D4E-96BB-E9570247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62520-0CF9-4266-9A38-B2DA00C9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35E27-F43A-4DDE-A10D-D863188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316BD-F6EC-4A0A-850C-CA994A13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动作错误缺少即时反馈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74541-0966-4CF8-B685-1363A3B9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FF1C6-9A09-40F6-B845-3BACA8C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1FCFF-0A3A-44D0-A37D-289B055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工业安全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64D2E-35C2-4059-9B38-F8DC0E59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异常往往事后才被发现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2387C-CCA7-4916-BF86-D75099CC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907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CB363-B4EB-465C-9223-593B7856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28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F6989A-0627-4FC4-AF46-B1A7214F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09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事后复核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BEE729-A613-4593-B079-940F298F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860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缺少同一规则下的过程记录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08864-11C6-485F-AB41-C29A67FA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655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4E2D8-C13D-4E63-9F9A-16663AF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录用、安全处置仍由授权人员决定；系统承担重复观察和事件记录。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7085E8-6158-480A-874E-4C513925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遮挡、低置信度和模型不可用时，明确转人工核查。</a:t>
            </a:r>
          </a:p>
        </p:txBody>
      </p:sp>
    </p:spTree>
    <p:extLst>
      <p:ext uri="{BB962C8B-B14F-4D97-AF65-F5344CB8AC3E}">
        <p14:creationId xmlns:p14="http://schemas.microsoft.com/office/powerpoint/2010/main" val="721854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4C91C-59B0-4C8B-9056-52232504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PRODUCT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8AB35-93AE-459B-AB0C-0A082089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一次动作检测，贯通任务与记录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90C9C-32BC-49DD-801C-F0E94E3B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D083E-E6F0-4DB6-AE2E-2B6A2417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26748-BD20-484E-A9EB-64879E32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718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3598F-77CE-4F25-90E6-32DB57C2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433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ACCF9-2A4D-4A26-A782-BD39367F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718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5CB03-FB9E-4F51-B1CC-C40A8F80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433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4F471-2733-4226-9A9A-4140087C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857500" cy="4000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BE031-7045-453C-B271-940C0473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HR / EHS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AC6FB-D6EF-45FA-92B0-53B66476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“安排深蹲 50 次检测，并记录需要复训的动作问题。”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5E51E-D0E3-41CA-96DC-8DE3F60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比赛空间拟负责选标准、分发任务和汇总异常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743A8-D310-44E5-8529-D52A43A4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8EBAB-C9FC-4614-950B-E6B5FF6B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任务入口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EA654-EC90-490F-8BC3-D63FB6A8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81200"/>
            <a:ext cx="3733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d609aac4147d2"/>
          <a:srcRect xmlns:a="http://schemas.openxmlformats.org/drawingml/2006/main" l="11324" t="0" r="113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38600" y="2000250"/>
            <a:ext cx="3695700" cy="268605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0CA1A-6944-448F-B1CA-1B88A0C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33950"/>
            <a:ext cx="3695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浏览器摄像头完成识别、纠错与完整周期计数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86D22-2C75-41CA-8384-75516D19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3333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3dc23330044a8"/>
          <a:srcRect xmlns:a="http://schemas.openxmlformats.org/drawingml/2006/main" l="15510" t="0" r="155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2000250"/>
            <a:ext cx="3295650" cy="268605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4BB74-1F16-495C-924B-E0F1E89F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33950"/>
            <a:ext cx="3295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pass / not_met / inconclusive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结果绑定模型、规则与权重版本</a:t>
            </a:r>
          </a:p>
        </p:txBody>
      </p:sp>
    </p:spTree>
    <p:extLst>
      <p:ext uri="{BB962C8B-B14F-4D97-AF65-F5344CB8AC3E}">
        <p14:creationId xmlns:p14="http://schemas.microsoft.com/office/powerpoint/2010/main" val="1811227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863D9B-EF46-4DEF-B9B9-FA16AE32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LIVE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B8595-9F0C-42D4-B704-115EA042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动作出错时，画面指出该怎么调整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B7CA1-4C8E-4951-8CF0-7713CAAE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895EC-94F8-4E21-8BC9-919634FB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FA66C-C2E1-4600-9167-954204E6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756285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2494d10374085"/>
          <a:srcRect xmlns:a="http://schemas.openxmlformats.org/drawingml/2006/main" l="3150" t="0" r="31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752475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97ABB-E9A6-4921-BA1A-1276EF1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73A2C-FF4A-493A-9E5F-61746244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6573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08372-0EE4-49AD-A8D2-40C0E59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准备 / 下降 / 底部 / 上升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C2EFA-B743-49F5-8CD5-AF3A7DA1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73495-EFFD-458D-84E8-56BE4CA0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E3205-CF9F-49DD-AA7B-075B81B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24FAA-2FB6-4C92-AD95-23A2DA5D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膝内扣、深度不足及时提示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138A2-E8EF-4447-BEFF-9C77F252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E5EDD-2A7D-46D1-8AB1-111DB749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EB0DC-2684-4B36-BCFE-F6FFA58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909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C7A71-77B7-4F77-918A-6B32EB8A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完整动作周期成立才 +1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A4F77-AF81-47F4-830F-5B7F737E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053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8DE2D-A342-4E72-818E-21D6515C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43558-BE45-4172-B9E1-6742914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57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降级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5E1BD-6951-43CD-8140-299BDFB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578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低置信度进入人工复核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4F51B-DFFE-4FF1-8F3F-78FF04F6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9626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画面标注、短句提示与语音播报同步工作</a:t>
            </a:r>
          </a:p>
        </p:txBody>
      </p:sp>
    </p:spTree>
    <p:extLst>
      <p:ext uri="{BB962C8B-B14F-4D97-AF65-F5344CB8AC3E}">
        <p14:creationId xmlns:p14="http://schemas.microsoft.com/office/powerpoint/2010/main" val="1029134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15DD9D-FB9D-4446-A609-01144EC7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MODEL &amp; RULE ASSETS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6D65A4-3751-4126-9254-963C04A6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本地模型与规则，组成可复用的现场能力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69228-16F1-4722-986E-3C8E2082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76975-51DF-452D-82C6-7E0C880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DE726-2B62-41FE-B519-BF40F92D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当前离线链路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BB39A-56D0-45F9-8EC7-B4893EFD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35276-4B2A-42F9-B952-2CCDBA5B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46FD9-7773-4746-BBDE-7DD8C868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0B19E-FCAF-44B0-B74C-86397D6C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B1594-836A-4AEB-A683-F730F61E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860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CB776-AC5E-4EE9-94D2-17E69B3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574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2948B-78F0-4919-88F6-8C9E7DC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1DCE5-EFB2-4A52-B750-EF6A1B7C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公开样本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7353E-6FE5-4623-91C4-BBDCBD1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许可检查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帧切窗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654A8-DCF6-477B-9838-83CB1DB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B0DD4-72AF-46FD-A424-1D3AC884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5F8B0-20CE-4B5D-B9D6-7FF98E19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通用模型起点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企业脱敏样本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E123E-1DAD-4204-BDE5-1F3115BC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81147-7E9A-4312-B130-1E421855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训练选优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CBE8-A775-41D6-B518-26333077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验证指标比较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选择最优 checkpoint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BCF853-A150-42A5-B5CD-12A6C2F7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95500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436F4-AF28-40CB-9E5A-A6CFD6B6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8600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本地权重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3127CC-507A-4171-B712-E9310848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479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tenant + standard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E8FF"/>
                </a:solidFill>
                <a:latin typeface="Microsoft YaHei"/>
                <a:ea typeface="Microsoft YaHei"/>
                <a:cs typeface="Microsoft YaHei"/>
              </a:rPr>
              <a:t>version + hash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5D7A3-B7EA-4F0E-A8C3-D4D3362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81200"/>
            <a:ext cx="15811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D27A7-477B-45ED-BC3D-4018378F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09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541486-F15B-402B-9496-501B89BD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47950"/>
            <a:ext cx="1314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调用、审计、回滚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共用同一资产锚点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4D41D6-F0E4-492B-ABAF-22444BFB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企业增量流程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CE00EF-01A8-4312-832C-09AFB40C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F61492-857D-4054-B4C7-365F6158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5DAE5-17D3-4087-B0FE-9F9CDB2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36AEA-2D93-49FA-83EE-DE20FE96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37D26-6F95-4E1F-A1A2-BD5D7B69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57725"/>
            <a:ext cx="771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F45B7-8B96-4C0B-A36F-B99924B0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6291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2EDDF4-EF4C-4C8E-9AFC-F40934B1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81A400-F6C4-435E-8D60-C7EBD675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授权样本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6814E-7F05-4365-9D96-896CD95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企业许可与标注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820BAC-D185-44C8-B507-970A992D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9FF4F6-D9CB-4D57-9FF9-9C690969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候选版本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562A48-5A5B-4EB3-8ED2-FEB7C505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参数或权重更新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D9F14A-CFE7-4E3D-809C-7283DD67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3C20F-3175-4F75-B703-D8DA4048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离线回放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DA2669-DD9F-4F10-BF9C-782D8537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对比误判与漏判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8DCEEF-0CB1-4BA6-B728-A95F0B8D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672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5243A7-F255-487A-B2F5-8B3AF1A7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38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人工批准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9DAAF3-A545-4E35-A3E5-97032E88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196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DDF8EE"/>
                </a:solidFill>
                <a:latin typeface="Microsoft YaHei"/>
                <a:ea typeface="Microsoft YaHei"/>
                <a:cs typeface="Microsoft YaHei"/>
              </a:rPr>
              <a:t>EHS 确认岗位标准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A5A2E7-9410-4401-A584-6CF041F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71950"/>
            <a:ext cx="15811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336C9E-EB03-4E35-A09D-C7F44190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4005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发布回滚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4DA273-ACDE-40F4-B102-AC53169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819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旧版保留可恢复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C0E011-F800-4F02-8B24-43632E23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规则调参普通电脑即可；ST-GCN 可用 CPU 训练，RTMPose 微调建议 GPU。</a:t>
            </a:r>
          </a:p>
        </p:txBody>
      </p:sp>
    </p:spTree>
    <p:extLst>
      <p:ext uri="{BB962C8B-B14F-4D97-AF65-F5344CB8AC3E}">
        <p14:creationId xmlns:p14="http://schemas.microsoft.com/office/powerpoint/2010/main" val="749824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3044EE-5FF4-43CB-B6C9-7756B590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A-TRACK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2A021-7230-4A5D-897A-8517C070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A 赛道：一个空间协同现场动作任务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5FD9C-3BE0-4E27-8133-22AD1B4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3788D-51EE-42EF-A9DB-2910CF16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8DE7A-D74A-475B-8050-0AB2291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智能体职责组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16605-C68E-4C77-912F-1E926E4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811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可复用的本地能力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D64AF-A159-4DE4-8655-F55675F7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提交状态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8D18E-85EF-4788-A890-F47E736E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F1155-21E3-43D9-AADA-A6C77461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任务与标准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AF58B-C88D-4B3D-B697-54EBE944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574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任务拆解、岗位标准、训练计划、设备检查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209F6-3491-41A8-9E9D-6495611F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角色待上架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CD57F-C69B-4058-BE8D-0565740D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DFD8F-6092-4AF3-9509-372D7A1F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动作教练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312A7-2FC0-457D-9678-024C7AB2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384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RTMPose、ST-GCN、阶段计数与即时纠错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34D49-0CA3-47DC-A81E-E51DA17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本地链路可演示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9A0D6-DE01-4280-BDE3-0883F9DD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1CD4E-6BF9-4AE3-8A8A-C716C75A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安全提醒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5C339-7990-4AD0-AE8B-E8929F4D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六类规则、持续门控、同类冷却与事件留档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A8A95-DD96-4ED9-AA88-6AD70F55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PPE 权重待补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89406-D455-49B6-99BB-6B93D2A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41FB5-D427-4C41-A365-3549BF0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复核与报告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79265-FF57-4FD2-AE5B-B266737C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会话总结、事件确认与认证记录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D81EC-992E-4F06-9D11-8431C97A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业务适配待验收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99EB4-34E4-493B-938F-806C6643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61E2A1-2ED4-4249-9CB5-048B2852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模型资产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DB64A6-EF7B-4042-B86A-A4B22B16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816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离线训练选优、本地权重与版本登记方案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E246EB-F1B1-48F0-A013-0A1A753A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816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注册回滚待实现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3ED44-3FCE-4632-B749-214BFCB9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AFC8FE-F71D-46C9-A8CE-6F8A0DF4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A 赛道要求同一空间至少 10 个有效智能体；当前为职责设计，以平台验收为准。</a:t>
            </a:r>
          </a:p>
        </p:txBody>
      </p:sp>
    </p:spTree>
    <p:extLst>
      <p:ext uri="{BB962C8B-B14F-4D97-AF65-F5344CB8AC3E}">
        <p14:creationId xmlns:p14="http://schemas.microsoft.com/office/powerpoint/2010/main" val="17486916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45ADA9-B8B8-4073-A54C-3C99134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TECH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0283B-C140-4BA7-B114-6FD1781A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两条本地视觉链路，共用规则与事件思路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E39FB-771B-452B-AC2C-0AF1E2F3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FB8C2-2F77-4F03-AA51-F3F1DE39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A06A7-4DE8-41A0-9782-0C5EA853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CDB42-DBC8-4FBE-9755-F690960C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A51E-5FDD-409D-BE17-3F3BE08B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1A855-23B4-41AA-9060-1A6898B2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BB604-5F91-4118-A5E3-28B6BA07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CB698-C525-4A56-9920-B51AB6A2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379D1-66BF-468D-9834-36DD447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33675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BBC1F-4E38-4140-A67F-9574B880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2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31BF6-3E5E-47BF-8C6D-FFCD0B8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BBB34-F8D8-4724-A076-7997E8AC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B278D-92E9-43C7-BE14-4E6B5DFD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摄像头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D44B5-27C8-4233-AEF4-0AE9E20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浏览器与工位视频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C04B8-75DC-4BB6-8C58-F98B141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2507A-4C6B-43A0-9866-39C1606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DF340-6417-49F8-BFA6-F02AAA1E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姿态估计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BAC65-54CE-4367-9F75-0C061359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RTMPose / YOLO 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2B473-5019-4AE1-B260-702D3D84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4420F2-EC12-4307-BFEF-4AD7EBC6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CCE09-041B-409D-9F1F-B996C5BC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动作理解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BAB07-710F-4E8D-A5D6-0C21504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 类动作 / 人员跟踪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9B126B-CE06-4001-A823-1E18AA9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F139F-0C7A-4FB0-8701-CAB6BE52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4529B3-3F99-4C8D-881C-4F20017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447E8-5E87-4723-A73F-032D9D82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计数 / 六类风险 / 去抖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D24FF-CF0D-46FC-87F1-51B75D59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1638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68B8C-BE42-4DFD-8DF2-25BC7B92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425D3E-D45B-4C0B-9F84-5F2950A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71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记录与复核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4E3AAC-CCC1-4916-A903-BCFDD53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76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会话总结 / SQLite 事件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C5DF02-E17D-48C4-A2CC-9650F86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19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F6A62D-03AE-4BFB-97BE-192C67F5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训练与考核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AF0110-1194-4BC7-8AB0-430148E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阶段、次数、Top 错误与短句反馈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E1897-C5B6-4A2C-9237-CB5B4F04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逐帧计数以确定性规则为准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528CFC-B936-45A3-8800-E61A5A97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52197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22D234-73F1-42E2-87DB-C0A383A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工业安全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D48F29-09A3-4828-9A3B-A8BCDF39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六类风险事件、截图与确认记录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B9A717-CF54-4CBE-9C71-9F58CAA2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独立 PPE 权重缺失时，头盔检测不可用</a:t>
            </a:r>
          </a:p>
        </p:txBody>
      </p:sp>
    </p:spTree>
    <p:extLst>
      <p:ext uri="{BB962C8B-B14F-4D97-AF65-F5344CB8AC3E}">
        <p14:creationId xmlns:p14="http://schemas.microsoft.com/office/powerpoint/2010/main" val="13588564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F42C1F-9F3A-4C85-BABC-04AAB5F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VERIFIABLE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2BA47-F94A-4E92-9754-DCCE046C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本地权重可核验，现场准确率仍待测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B8A48-05DD-4F16-AAC9-01EAA303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459A9-917D-4F96-A294-23E5CF59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6191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a338311389473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BC6D3-DE9A-4FE6-9799-F10CCD0B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DDAA4-4EC0-4C33-9EAC-9C23055E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62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名真实受试者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A165F-91A8-4D6F-AB91-E4BA243A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860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MM-Fit 数据源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1211D-8D84-4359-8D50-D4961B79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8,898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54868-B274-499C-9C4E-042E5C27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个训练窗口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BFCC7-2B39-410A-ABB9-143CE47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860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 帧 × 17 关节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E4E62-ECC0-4297-A311-9C51899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14700"/>
            <a:ext cx="413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E1CA9A-B26E-41E9-94E8-BF9364AD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814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342A4-BBCD-48BB-B923-6C381E9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8AF29-0A84-4AE3-861F-A4171E9E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ST-GCN 分类模型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2602D-0E13-4761-AD16-D6885D8D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814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93.15%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80A37-98AE-4235-8346-AD309E74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91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窗口验证选模指标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5E3C7-012B-4B38-8151-085870B4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148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Epoch 5 /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0B45E-4D24-41D4-AAC7-CEB6CBA8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334000"/>
            <a:ext cx="41338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8E5CB-0FB3-45A7-9AFC-C30AE0B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76875"/>
            <a:ext cx="3790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23 项流程测试通过 · 安全模块配置六类规则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ACFD4-0BE1-418C-BDF0-AACCDBA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93.15% 的随机滑窗划分可能泄漏；不能当作企业现场准确率。</a:t>
            </a:r>
          </a:p>
        </p:txBody>
      </p:sp>
    </p:spTree>
    <p:extLst>
      <p:ext uri="{BB962C8B-B14F-4D97-AF65-F5344CB8AC3E}">
        <p14:creationId xmlns:p14="http://schemas.microsoft.com/office/powerpoint/2010/main" val="18154533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032CB7-AABD-45C8-B915-FD5E7CD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RISK &amp;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F319E-136E-4986-B7DE-DE0F4C88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现场告警先降误报，关键结论留给人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C2CEA-EF7A-43C7-84C6-AE0A7E09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B879D-0111-4796-A828-0DAF786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8F42D-579E-48B0-9C91-822755B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562350" cy="43624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BC724-86CA-4C77-B26A-06F6E07D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HUMAN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41ADB-4C2E-4AA1-B63E-B5F9D6D2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看不清，</a:t>
            </a:r>
          </a:p>
          <a:p xmlns:a="http://schemas.openxmlformats.org/drawingml/2006/main">
            <a:pPr algn="l">
              <a:buNone/>
              <a:def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就不下结论。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A93E9-DE32-4943-9C4B-E1F33305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781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遮挡、无人入镜或模型不可用时，记录技术失败并提示人工核查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6483D-57B0-4D15-ABB7-937485A8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录用、安全处置和医疗判断由授权人员负责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346B0-7682-4801-A846-321268E4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9A984-AFE0-4758-8A21-EC6D0FA0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145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本地推理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752F4-EA24-4E42-81DC-C1E52F8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335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视觉模型和规则在本地运行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3DA8C0-18CC-4154-9077-4A7186AB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955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ADBAD-9C90-47B4-99A5-9668B09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00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F6EDE-D3BF-43CF-A7BD-2CF01C40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持续门控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70C642-B0D1-45D7-9F53-D1D86129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风险持续达到配置时间才触发告警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51C39-3C3B-4C44-A63D-828CB66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4330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F90A2-8E99-41C1-AC53-9EF8B2CD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69947-A2FA-4A6C-B9A5-CEC3656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10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同类冷却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03146C-5063-420D-9F05-6ABDF37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同一风险在冷却期内不重复轰炸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650BE-7BFD-4034-8FC9-7B7ABFFF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910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B7241-4714-4F62-91A8-CD6FAD0E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6A098-1F08-4BA9-A0D3-49BB26D7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57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跟踪复位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DB2E3-927B-479A-A207-A353EC7E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7680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人员丢失时清理规则状态，避免残留误报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85032-60D5-4D03-A1F1-034C1A1F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8645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C0D2C-6FAE-4ADD-8B5F-1A36CCE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055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2B41E3-41EC-4365-831A-0F98C54C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86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DF6C2-9A75-465A-A409-78141E4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90550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需纠正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AE1129-2DC4-4154-905D-B779CF9F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8645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0F0430-6945-4D70-B626-EF3934E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05500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需核查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DBCE88-A3F2-42DA-88A5-A9AE38F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86450"/>
            <a:ext cx="1314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E563E-E7AB-4F57-86C4-4DEF8D6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905500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无法判定</a:t>
            </a:r>
          </a:p>
        </p:txBody>
      </p:sp>
    </p:spTree>
    <p:extLst>
      <p:ext uri="{BB962C8B-B14F-4D97-AF65-F5344CB8AC3E}">
        <p14:creationId xmlns:p14="http://schemas.microsoft.com/office/powerpoint/2010/main" val="1662616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F79268-8EC6-4033-B20C-E926F5A1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19EA7-CD87-4F4A-8AE1-F708C7C9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单点部署，从招聘延伸到在岗与安全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CDBC-85CE-4913-8C45-5396608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09B61-D09C-48BB-B4FD-17A5DB3A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BD273-073A-437B-9586-9B4579E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首个客户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45E60-C11E-4AD5-8E72-B5C86C6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有岗位动作培训和批量考核需求的制造、仓储企业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791BE-E5E4-4377-A864-2ABDC240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买方：招聘负责人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共同决策：EHS / IT / 用工合规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9B4EA-92DA-45B2-9AA3-3470228C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857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15B3B-4074-495E-88CD-03F72758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价值用试点数据计算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9EED-CAD2-40FB-BE80-2123C16E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381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每百人节省考官工时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单次检测成本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AI / 双人复核计数一致性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D2D3A-32B7-428D-B62C-5BB79C2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76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LAND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56215-E787-42D8-BFAF-50C8D0E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676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EXPAND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B492B-CBC6-4FE0-94F7-99342C0F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7652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222FF-76D3-42F4-BB2A-3DAD236C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BE2A2-45FC-434B-8531-30C5D03F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1152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FF32B-9E09-48AB-9829-0BC68B73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03BE3-9435-4F39-8F0D-8077643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55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96340-44C6-456E-BB41-E55B6C25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 / 转岗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B294D-AD4C-41A3-8405-B27D9DC4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按检测次数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或私有化年费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09FA2-BC32-465B-A10E-7F5CB6F3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55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1AC57-5006-47EC-850B-F777215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9B0C0-1F06-4FC9-8DBF-1DBE61EE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岗位标准订阅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与周期复训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0B8504-A292-4E1D-BEFD-729D581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152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19050">
            <a:solidFill>
              <a:srgbClr val="12B98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C8DD0-43AC-4BDA-98AC-C9A6C46C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66950"/>
            <a:ext cx="121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现场安全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D9C9A-E2A4-4AA5-BDA7-8ED682FF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95600"/>
            <a:ext cx="1257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活跃员工 / 岗位</a:t>
            </a:r>
          </a:p>
          <a:p xmlns:a="http://schemas.openxmlformats.org/drawingml/2006/main">
            <a:pPr algn="ctr">
              <a:buNone/>
              <a:def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Skill 调用结算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F2B563-7E75-4485-AB81-CD55E2B0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005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3F9FF7-5274-4890-B828-BAEA8381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243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先验证一个训练点的准确性与使用率，再扩展到相邻岗位和安全工位。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4692F8-8A77-41DC-8FD8-45304640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292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收费方式是商业假设；目前没有付费客户，也没有 3 倍或 40% 的现场实测。</a:t>
            </a:r>
          </a:p>
        </p:txBody>
      </p:sp>
    </p:spTree>
    <p:extLst>
      <p:ext uri="{BB962C8B-B14F-4D97-AF65-F5344CB8AC3E}">
        <p14:creationId xmlns:p14="http://schemas.microsoft.com/office/powerpoint/2010/main" val="9912584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C4E20C-448A-4D5C-AD66-1B6F438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PILOT &amp;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E3944-0B4F-4486-91D5-DF27227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四周试点，量出准确性与人工成本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8015B-F338-4C64-A925-A72C706D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7E81E-A55F-41F5-A7B6-D4C4F6DE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DFD50-A6CA-4172-B07F-F0F1D018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43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1E181-62C7-44BD-A222-9150F269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146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53517-2718-4AC5-8F90-3A112B02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43225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55BEC-854F-4798-AC0B-67AD9FE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114300" cy="76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5D9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719D3-0FD9-49A9-A50B-A3167054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105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AD9AE-1C5F-49B2-9165-69F4C0D0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5B213-6FBA-47A6-8E0B-B6E6830A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1 周：定标准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1F542-17CD-4F70-8F86-2D89D2C6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单考场 · 单项目 · 单批次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 与人工同时计数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2E631-2EAE-4C0A-A619-B5E53D92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34099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15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E1228-0721-4938-85DC-0DF76032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64382-68D8-409D-9D39-9C561698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2–3 周：并行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28451-5E7F-4F01-9114-A286736B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考官工时 · 一致性 · 需复核率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争议时长 · 候选人完成时长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730A4A-6C65-4AB7-A803-66AB2FE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31051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40DBF-BAEC-4F46-828B-6FE311E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A44CF-9823-46C2-8BD4-5B1033B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 4 周：复盘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6472F-0611-45A4-A3C8-A480E4D2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达到双方约定门槛后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再进入正式筛选与岗位扩展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E1102-3335-4906-8246-8B2B3399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当前可核验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5CBC7-C240-4318-96BD-A92E89C0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8E415-F4B8-4403-BA7D-16D5BC7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Web 实时教练与认证页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2B7C1-0D62-4D15-BC73-2E16142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2713B-90FA-43E4-A671-61073FF6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本地模型权重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D1F5F-4ECA-4CA5-88B9-6F944F3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661304-1F1B-4069-B4EA-4096BB30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安全六类规则与事件接口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00307-3150-4172-AE24-2342B2BE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2921C-21C4-4789-ADAD-E60DBE07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版本化动作标准配置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AE47F-E96B-454B-B300-CDF5B9CF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149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526E27-7DA6-4AC3-8CAF-2FF8A4E0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958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23 项流程测试与 smoke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0CCCC6-8B31-4338-A3D2-70C7D125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90EEC-C36D-4CCF-B9E9-B9CBBD9E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A 赛道提交前还需：发布至少 10 个有效智能体，并保存协作运行记录。</a:t>
            </a:r>
          </a:p>
        </p:txBody>
      </p:sp>
    </p:spTree>
    <p:extLst>
      <p:ext uri="{BB962C8B-B14F-4D97-AF65-F5344CB8AC3E}">
        <p14:creationId xmlns:p14="http://schemas.microsoft.com/office/powerpoint/2010/main" val="2012654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35F908-F749-4A44-8D02-905B42D6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9AA73-604D-41C2-BCED-4C33457D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C46B3-59AD-4AF2-8E92-2C11D9BF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让第一个“看得懂动作”的</a:t>
            </a:r>
          </a:p>
          <a:p xmlns:a="http://schemas.openxmlformats.org/drawingml/2006/main">
            <a:pPr algn="l">
              <a:buNone/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ClawHive 数字员工上岗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B12AB-624D-4A84-8784-9A88C26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进入 ClawHive 企业级安全技能市场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9D5E4"/>
                </a:solidFill>
                <a:latin typeface="Microsoft YaHei"/>
                <a:ea typeface="Microsoft YaHei"/>
                <a:cs typeface="Microsoft YaHei"/>
              </a:rPr>
              <a:t>与一家制造 / 仓储企业完成首个并行试点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F89D2-2EC8-4F9B-AC5A-3EE4766A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02BAB-700A-4449-B8A4-23E9A7DC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先量出误判、工时和复训效果，再决定扩展。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A7E20-DBBB-4625-82BA-8EB1AC73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9FB1C7"/>
                </a:solidFill>
                <a:latin typeface="Microsoft YaHei"/>
                <a:ea typeface="Microsoft YaHei"/>
                <a:cs typeface="Microsoft YaHei"/>
              </a:rPr>
              <a:t>练了么 · AI 现场动作数字员工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6D395-A24E-4D29-AE60-F2EF7392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57250"/>
            <a:ext cx="1371600" cy="5143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20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56423-CF7C-44BB-AB2E-5763630E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2001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97301-C6BB-45F4-9E31-C0E1E31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526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1F207-E9C0-48B6-8EF3-1D8A6293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336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纠错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03818-8DF8-442C-9B00-8FA1794F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860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85BDC-9F8D-4D04-BFEB-AFF8D8E7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670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1A628-BC2C-40E7-A223-739D8334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1950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B93B8-89EF-47BB-83F9-511C918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E97DE-D6C1-4025-9D9F-27BC50C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529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40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FEEFB-AB02-4008-85E2-75B4AF71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33950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</p:spTree>
    <p:extLst>
      <p:ext uri="{BB962C8B-B14F-4D97-AF65-F5344CB8AC3E}">
        <p14:creationId xmlns:p14="http://schemas.microsoft.com/office/powerpoint/2010/main" val="489822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D6808-F460-4AF1-AD92-8C089063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719D2-4EB4-478E-B3C7-F0F8DC0B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备份｜三类场景共享动作观察能力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D5524-1A0B-47E9-A3DD-7518198A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B30F4-55FE-4A59-BDA5-4E00F9AD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843FC-3790-40DD-9AEE-231165F4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6C246-B5EB-4135-A2BD-470B4C4D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招聘深蹲 50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B7C0C-E890-4D98-B70E-2EBE0CC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E792E-0C7A-4385-B890-CE8F4C22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实时阶段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即时纠错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完整周期计数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认证记录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B05FD-9CBB-4A1F-ACC8-682BAF1C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23A1E-3568-449A-8BEA-2DBC47E7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当前最强闭环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993DA-54AA-4524-A934-059BEEA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88DBE-316F-40F8-9B26-08ECCA15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在岗动作训练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97B5F-BFF9-4311-B39D-EA468363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F51E9-CBDB-4B63-ABEF-6773C859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11 类识别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6 类专项规则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通用反馈降级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Best 权重复用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5F3F2-DE80-44D6-820C-8FCDB23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45A00-651F-45C8-9FFA-8A46B826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项目组合待补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3FAFC-CD8B-4172-B26C-9706B336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60A96-22A1-4437-886A-9FCC8262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工业安全预警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58D12-96AC-4A2A-9B08-4250799E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2415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817C7-0F69-4EDE-B6C0-81CBFA5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深蹲代理动作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会话总结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同一终端与权限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ClawHive 任务编排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BC3F4-8838-4F84-BB6D-84D9DF11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291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EBE93-5216-4C3C-820B-8C56BC03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现场数据待校准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87F20F-19B0-481E-967D-E0EF21FD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安全事件可展示规则与留档流程；误报、漏报和 PPE 模型需现场验证。</a:t>
            </a:r>
          </a:p>
        </p:txBody>
      </p:sp>
    </p:spTree>
    <p:extLst>
      <p:ext uri="{BB962C8B-B14F-4D97-AF65-F5344CB8AC3E}">
        <p14:creationId xmlns:p14="http://schemas.microsoft.com/office/powerpoint/2010/main" val="1273500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18553-C9F9-4C9E-9E6E-D923B438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CURRENT APIS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F3273-4FCB-498C-8172-B4550524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两个本地接口链路，支撑训练与安全演示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8F94D-A5FD-4D3D-AB3B-811829FC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7C5AF-E4BC-420B-BC46-56E5AEEC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0D89-3F51-431E-892A-87E8802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训练会话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5D04E-3CB3-4B23-B9D1-F9E16CD0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E1874-C2BB-4C37-A3EA-52A44EC5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514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request_id       req-demo-001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tenant_id        factory-demo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standard_id      RECRUIT_SQUAT_50_V1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best_weight_id   bw-factory-A-v1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exercise         squats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target_reps      50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retention_policy raw_frames: none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AE22C-C045-4221-A274-B5C8FE8E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57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安全事件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257D1-4BC5-4859-A7FE-2BE4B5A3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F3192-BE5E-4BE4-AA9F-572E99F1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43150"/>
            <a:ext cx="4514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decision            pass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valid_rep_count     50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invalid_rep_count   3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review_status       not_required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model_version       ...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rule_version        RECRUIT_SQUAT_50_V1</a:t>
            </a:r>
          </a:p>
          <a:p xmlns:a="http://schemas.openxmlformats.org/drawingml/2006/main">
            <a:pPr algn="l">
              <a:buNone/>
              <a:def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best_weight_id      bw-factory-A-v1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C08C7-DF01-48E7-BE3A-8E5AF1FE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上图为当前运行时接口；租户鉴权、幂等回写与 Best 权重注册尚未实现。</a:t>
            </a:r>
          </a:p>
        </p:txBody>
      </p:sp>
    </p:spTree>
    <p:extLst>
      <p:ext uri="{BB962C8B-B14F-4D97-AF65-F5344CB8AC3E}">
        <p14:creationId xmlns:p14="http://schemas.microsoft.com/office/powerpoint/2010/main" val="2506868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06D36-84B2-45B8-A8A6-ACD2F352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APPENDIX ·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B82AE-5B79-4510-A592-8DB7E240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备份｜赛道交付与技术边界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E3EEB-A1B0-4AB9-8E26-0BB141F5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E8C25-B356-4AB2-8621-EF622E1C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B0EA8-3B23-4996-88DF-5C5141AE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交付项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42E00-C8BE-4078-A01B-964CBC3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9EE96-27DB-4B86-B21A-4F9512D0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提交前验收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36876-CA62-4EF2-958D-DF055E6E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83654-461F-443D-98D7-76CAD935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动作教练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961B1-BB14-41D5-8B0D-9B5085DA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193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本地权重、训练脚本与实时页面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524AC-8DA3-4BF6-A8AE-C16BD04D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真机记录 FPS、失败率与持续运行表现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FEC37-B9D6-45BE-BA67-AC03631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0383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CA5C1-468A-4F98-89F0-B8BD4C67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092CE-EE32-43A0-AA8D-61788981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安全监测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09F29-F4B8-490E-916C-BF5820BF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03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六类规则、事件库与确认接口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2B3CC-0AED-42BC-9F3D-88AB7758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补齐 PPE 权重，测误报与漏报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23330-AD69-4B1A-97DF-EA74C67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194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12B981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679CC-CF88-4980-A354-DF24D2D3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0E929-EF8F-4C8B-BC26-01AF334E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004B2-2078-44A4-A4E5-EF8AE95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本地工具与 19 角色职责方案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DD9D4-799A-4438-9A3A-D7581598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81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至少 10 个有效智能体和协作日志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99F68-9402-409D-8EC0-82C3D5F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004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43932-801A-4263-A2C4-77A23211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C58E2-1D07-4CBF-AE1C-D9262B14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现场精度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009E3-7A66-43B3-9746-71DFE5F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6245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窗口验证仅用于选模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2E958-B305-4B09-9B33-4DD651F0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按人员和场地独立测试，再定阈值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A2A39D-524A-4DE7-A687-0FD3EC86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D2F1C-FFAA-487B-9A2F-F2CC4135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05FCA-498A-4979-B44F-09C89E76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6EBFC-F877-4361-B9B4-F4BDC261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单机会话和本地记录已有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0342F1-BCC5-41D3-9845-A9B9212A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补鉴权、租户隔离、审计与人工复核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28D4E-14F0-4B8A-B5BB-507D1797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1625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30061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E5484D"/>
                </a:solidFill>
                <a:latin typeface="Microsoft YaHei"/>
                <a:ea typeface="Microsoft YaHei"/>
                <a:cs typeface="Microsoft YaHei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8705A-0FF7-45E9-ABFC-C85E4BCC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9E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D8EE7-4343-4BBD-9498-91456294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赛道门槛与模型性能均需独立验收；演示功能不等于生产级部署。</a:t>
            </a:r>
          </a:p>
        </p:txBody>
      </p:sp>
    </p:spTree>
    <p:extLst>
      <p:ext uri="{BB962C8B-B14F-4D97-AF65-F5344CB8AC3E}">
        <p14:creationId xmlns:p14="http://schemas.microsoft.com/office/powerpoint/2010/main" val="2113534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2026-09-21T12:41:12.3630000Z</dcterms:created>
  <dcterms:modified xsi:type="dcterms:W3CDTF">2026-09-21T12:41:12.3630000Z</dcterms:modified>
</coreProperties>
</file>