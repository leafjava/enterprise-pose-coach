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247bebb34940df" /><Relationship Type="http://schemas.openxmlformats.org/officeDocument/2006/relationships/extended-properties" Target="/docProps/app.xml" Id="R267c14520528421d" /><Relationship Type="http://schemas.openxmlformats.org/officeDocument/2006/relationships/officeDocument" Target="/ppt/presentation.xml" Id="R9bfcfd6b3db14b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7cc528e1284ac0"/>
  </p:sldMasterIdLst>
  <p:notesMasterIdLst>
    <p:notesMasterId xmlns:r="http://schemas.openxmlformats.org/officeDocument/2006/relationships" r:id="R87fd3e82660143bf"/>
  </p:notesMasterIdLst>
  <p:sldIdLst>
    <p:sldId xmlns:r="http://schemas.openxmlformats.org/officeDocument/2006/relationships" id="256" r:id="Rd66bff8e9fbb4be1"/>
    <p:sldId xmlns:r="http://schemas.openxmlformats.org/officeDocument/2006/relationships" id="257" r:id="R766cc9a35a144e6c"/>
    <p:sldId xmlns:r="http://schemas.openxmlformats.org/officeDocument/2006/relationships" id="258" r:id="R1212ea98ef0b4152"/>
    <p:sldId xmlns:r="http://schemas.openxmlformats.org/officeDocument/2006/relationships" id="259" r:id="R6a1824a138234541"/>
    <p:sldId xmlns:r="http://schemas.openxmlformats.org/officeDocument/2006/relationships" id="260" r:id="R77fde26ab5dc4e5b"/>
    <p:sldId xmlns:r="http://schemas.openxmlformats.org/officeDocument/2006/relationships" id="261" r:id="R73a281031e6243b5"/>
    <p:sldId xmlns:r="http://schemas.openxmlformats.org/officeDocument/2006/relationships" id="262" r:id="R0f9c2789ae6c44b4"/>
    <p:sldId xmlns:r="http://schemas.openxmlformats.org/officeDocument/2006/relationships" id="263" r:id="R5ef1be13aec2415a"/>
    <p:sldId xmlns:r="http://schemas.openxmlformats.org/officeDocument/2006/relationships" id="264" r:id="R3d067e84155a4870"/>
    <p:sldId xmlns:r="http://schemas.openxmlformats.org/officeDocument/2006/relationships" id="265" r:id="R58bb0abcf4d64ef8"/>
    <p:sldId xmlns:r="http://schemas.openxmlformats.org/officeDocument/2006/relationships" id="266" r:id="R4ca0ecde0c7d4dee"/>
    <p:sldId xmlns:r="http://schemas.openxmlformats.org/officeDocument/2006/relationships" id="267" r:id="R1dd4fb871bf04fd9"/>
    <p:sldId xmlns:r="http://schemas.openxmlformats.org/officeDocument/2006/relationships" id="268" r:id="R57ccd1e0b4a744f7"/>
    <p:sldId xmlns:r="http://schemas.openxmlformats.org/officeDocument/2006/relationships" id="269" r:id="Rf4c64afbcdfe4df7"/>
    <p:sldId xmlns:r="http://schemas.openxmlformats.org/officeDocument/2006/relationships" id="270" r:id="Rdc7efb259ef54b10"/>
    <p:sldId xmlns:r="http://schemas.openxmlformats.org/officeDocument/2006/relationships" id="271" r:id="R3ff828d97bca439b"/>
    <p:sldId xmlns:r="http://schemas.openxmlformats.org/officeDocument/2006/relationships" id="272" r:id="R38dcab893b2a4a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bab27888634baf" /><Relationship Type="http://schemas.openxmlformats.org/officeDocument/2006/relationships/slideMaster" Target="/ppt/slideMasters/slideMaster1.xml" Id="R617cc528e1284ac0" /><Relationship Type="http://schemas.openxmlformats.org/officeDocument/2006/relationships/notesMaster" Target="/ppt/notesMasters/notesMaster1.xml" Id="R87fd3e82660143bf" /><Relationship Type="http://schemas.openxmlformats.org/officeDocument/2006/relationships/presProps" Target="/ppt/presProps.xml" Id="Rf918a7c0c3a947e5" /><Relationship Type="http://schemas.openxmlformats.org/officeDocument/2006/relationships/tableStyles" Target="/ppt/tableStyles.xml" Id="Ra7174a6869754002" /><Relationship Type="http://schemas.openxmlformats.org/officeDocument/2006/relationships/slide" Target="/ppt/slides/slide1.xml" Id="Rd66bff8e9fbb4be1" /><Relationship Type="http://schemas.openxmlformats.org/officeDocument/2006/relationships/slide" Target="/ppt/slides/slide2.xml" Id="R766cc9a35a144e6c" /><Relationship Type="http://schemas.openxmlformats.org/officeDocument/2006/relationships/slide" Target="/ppt/slides/slide3.xml" Id="R1212ea98ef0b4152" /><Relationship Type="http://schemas.openxmlformats.org/officeDocument/2006/relationships/slide" Target="/ppt/slides/slide4.xml" Id="R6a1824a138234541" /><Relationship Type="http://schemas.openxmlformats.org/officeDocument/2006/relationships/slide" Target="/ppt/slides/slide5.xml" Id="R77fde26ab5dc4e5b" /><Relationship Type="http://schemas.openxmlformats.org/officeDocument/2006/relationships/slide" Target="/ppt/slides/slide6.xml" Id="R73a281031e6243b5" /><Relationship Type="http://schemas.openxmlformats.org/officeDocument/2006/relationships/slide" Target="/ppt/slides/slide7.xml" Id="R0f9c2789ae6c44b4" /><Relationship Type="http://schemas.openxmlformats.org/officeDocument/2006/relationships/slide" Target="/ppt/slides/slide8.xml" Id="R5ef1be13aec2415a" /><Relationship Type="http://schemas.openxmlformats.org/officeDocument/2006/relationships/slide" Target="/ppt/slides/slide9.xml" Id="R3d067e84155a4870" /><Relationship Type="http://schemas.openxmlformats.org/officeDocument/2006/relationships/slide" Target="/ppt/slides/slide10.xml" Id="R58bb0abcf4d64ef8" /><Relationship Type="http://schemas.openxmlformats.org/officeDocument/2006/relationships/slide" Target="/ppt/slides/slide11.xml" Id="R4ca0ecde0c7d4dee" /><Relationship Type="http://schemas.openxmlformats.org/officeDocument/2006/relationships/slide" Target="/ppt/slides/slide12.xml" Id="R1dd4fb871bf04fd9" /><Relationship Type="http://schemas.openxmlformats.org/officeDocument/2006/relationships/slide" Target="/ppt/slides/slide13.xml" Id="R57ccd1e0b4a744f7" /><Relationship Type="http://schemas.openxmlformats.org/officeDocument/2006/relationships/slide" Target="/ppt/slides/slide14.xml" Id="Rf4c64afbcdfe4df7" /><Relationship Type="http://schemas.openxmlformats.org/officeDocument/2006/relationships/slide" Target="/ppt/slides/slide15.xml" Id="Rdc7efb259ef54b10" /><Relationship Type="http://schemas.openxmlformats.org/officeDocument/2006/relationships/slide" Target="/ppt/slides/slide16.xml" Id="R3ff828d97bca439b" /><Relationship Type="http://schemas.openxmlformats.org/officeDocument/2006/relationships/slide" Target="/ppt/slides/slide17.xml" Id="R38dcab893b2a4a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e8f0ef7bbf48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db04c566464f8b" /><Relationship Type="http://schemas.openxmlformats.org/officeDocument/2006/relationships/notesMaster" Target="/ppt/notesMasters/notesMaster1.xml" Id="R44d51f5ed46344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2bd4c689bf4f3b" /><Relationship Type="http://schemas.openxmlformats.org/officeDocument/2006/relationships/notesMaster" Target="/ppt/notesMasters/notesMaster1.xml" Id="R5435a86403af46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77bfd170b54cc7" /><Relationship Type="http://schemas.openxmlformats.org/officeDocument/2006/relationships/notesMaster" Target="/ppt/notesMasters/notesMaster1.xml" Id="R074f12eae50843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c6719162fd4c9e" /><Relationship Type="http://schemas.openxmlformats.org/officeDocument/2006/relationships/notesMaster" Target="/ppt/notesMasters/notesMaster1.xml" Id="Rc83edc1bd7344c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517a969e7141da" /><Relationship Type="http://schemas.openxmlformats.org/officeDocument/2006/relationships/notesMaster" Target="/ppt/notesMasters/notesMaster1.xml" Id="Rc4b76e2fe88a48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7530b8d5bb4d99" /><Relationship Type="http://schemas.openxmlformats.org/officeDocument/2006/relationships/notesMaster" Target="/ppt/notesMasters/notesMaster1.xml" Id="R2348316caa0842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61914f33cf4231" /><Relationship Type="http://schemas.openxmlformats.org/officeDocument/2006/relationships/notesMaster" Target="/ppt/notesMasters/notesMaster1.xml" Id="R9579c125cc1f46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184e86e1d34442" /><Relationship Type="http://schemas.openxmlformats.org/officeDocument/2006/relationships/notesMaster" Target="/ppt/notesMasters/notesMaster1.xml" Id="R88625ce53a0748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ca35268d694d8d" /><Relationship Type="http://schemas.openxmlformats.org/officeDocument/2006/relationships/notesMaster" Target="/ppt/notesMasters/notesMaster1.xml" Id="R9fccbebf115643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24ee5afddf46c6" /><Relationship Type="http://schemas.openxmlformats.org/officeDocument/2006/relationships/notesMaster" Target="/ppt/notesMasters/notesMaster1.xml" Id="R97b2e148bdb44f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a89ce907024e01" /><Relationship Type="http://schemas.openxmlformats.org/officeDocument/2006/relationships/notesMaster" Target="/ppt/notesMasters/notesMaster1.xml" Id="R857da2c252aa46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fb6d477595435f" /><Relationship Type="http://schemas.openxmlformats.org/officeDocument/2006/relationships/notesMaster" Target="/ppt/notesMasters/notesMaster1.xml" Id="Rdde445f9506141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f156e89f0e46e6" /><Relationship Type="http://schemas.openxmlformats.org/officeDocument/2006/relationships/notesMaster" Target="/ppt/notesMasters/notesMaster1.xml" Id="Rf6797e5cedbd40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f751e0eb3b4dee" /><Relationship Type="http://schemas.openxmlformats.org/officeDocument/2006/relationships/notesMaster" Target="/ppt/notesMasters/notesMaster1.xml" Id="R4b56f24c113e4b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fe8da78dfe4bd3" /><Relationship Type="http://schemas.openxmlformats.org/officeDocument/2006/relationships/notesMaster" Target="/ppt/notesMasters/notesMaster1.xml" Id="R3b27e6a2685f46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7178c8240842e2" /><Relationship Type="http://schemas.openxmlformats.org/officeDocument/2006/relationships/notesMaster" Target="/ppt/notesMasters/notesMaster1.xml" Id="R51732db25f8347c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68cfc332d144ace" /><Relationship Type="http://schemas.openxmlformats.org/officeDocument/2006/relationships/notesMaster" Target="/ppt/notesMasters/notesMaster1.xml" Id="Re41007ab3cfd45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各位评委好，我们是练了么。员工看完培训视频以后，动作到底做对没有？我们希望让每一次岗位训练，都有人看动作。员工用摄像头练习，系统当场给出具体指导，主管看到训练记录和需要复训的地方。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 Web 主流程及本次商业定位。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象一位刚入职的仓储员工。视频看过了，要求也听过了，真正开始做动作时，他依然需要有人提醒。班组长要逐个看、反复讲，企业还需要留下培训依据。这个断点会出现在入职、转岗和复训里。我们的切口，就是其中能够按标准观察和记录的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依据：场景假设，来自项目 PRD 与用户提供的制造、仓储场景，尚非客户访谈结论。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练了么已经有 Web 实时教练和体能评估页面。员工选择动作项目，用摄像头练习，系统返回阶段、次数和纠错提示，结束后生成会话总结。这里展示的是既有产品的界面演示。企业任务分发与台账回写将在平台接入时补齐。我们的交付单位，是一项有过程、有结果的训练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依据：web_app.py /api/session/start、frame、stop 与 /api/certifications；原版产品截图。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请看这个深蹲示例。界面把需要调整的膝盖和躯干直接标出来，给出具体的动作提示。员工调整姿势，完成一次完整动作周期，次数随之增加。语音提示设有连续触发和冷却机制，避免每帧重复播报。这一页是 Ghost Coach 可视化界面演示，用来说明交互；真实模型效果应由摄像头演示和现场测试证明。答辩时，我们重点演示错误、纠正、计数这三个连续状态。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依据：src/live_coach.py；src/ghost_coach.py；static/ghost-coach.js；原版错误状态截图。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在训练之外，我们增加了独立的现场安全模块。它使用 YOLO 姿态与独立 PPE 检测接口，配置了六类规则。规则持续成立才提醒，同类事件经过冷却再告警，并保存事件和可选截图。持续静止等信号只提示人员核查。代码模块已经开发，当前默认 PPE 权重还需要补齐，现场效果也需要单独验收。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依据：src/pipeline_safety/rules.py、events.py、monitor.py；config/safety/default.json。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赛道要求至少十个有效智能体。我们围绕业务任务设计十九个角色，分别负责任务、训练、安全和复核资产。比如一项新人训练，由任务调度选择标准，教练调用本地引擎，记录智能体整理结果，复训智能体给出下一次任务。每个角色都应有独立输入和可检查的输出。这一页是空间搭建方案，平台发布及有效性需要真实调用记录来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依据：用户提供的 A 赛道通知；本次提出的空间架构方案。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动作反馈需要稳定、可解释的判断。训练链用人体关键点和动作分类，加几何规则完成阶段、计数与纠错。安全链使用另一组检测器和规则。智能体负责选择任务、解释结果和安排后续工作，核心逐帧计数不依赖生成式模型。这样既能给出明确的错误原因，也保留本地部署的选择。具体边缘设备还需要测延迟和并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依据：src/fitness_infer.py、src/live_coach.py、src/rtmpose_tran.py、src/pipeline_safety/detector.py；智能体协同为设计方案。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项目已经具备训练保存最优 checkpoint、以及后续加载本地权重的基础能力。下一阶段，我们要把授权的企业动作样本、岗位标准和复核结果串起来，按企业管理模型版本。新增样本经过独立评估以后再决定是否升级，并保留回滚记录。真正值得积累的是客户确认过的岗位规则和纠错样本。租户隔离、自动版本注册与回滚仍然是接入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依据：src/train.py；src/fitness_infer.py；skill-build/enterprise-pose-coach/references/api-mapping.md。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今天可以核验的是本地模型文件、十一类动作分类、六类专项动作规则和运行中的 Web 代码。这次重新执行的二十三项流程测试全部通过。它们验证页面、契约和几何规则。企业现场的模型精度还需要按受试者和工位独立测试，我们没有把旧训练验证数字当成现场准确率。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依据：model/；src/fitness_infer.py；src/live_coach.py；本次 tools/harness.mjs test：23 tests OK；docs/real-evidence.md。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我们的第一笔收入，计划来自一个有明确动作考核需求的企业训练点。培训或 EHS 负责人推动，IT 参与，班组长使用。收费可以从岗位适配和部署开始，再按训练点收年度服务费。扩展到相邻岗位时，复用已有引擎和事件记录，新增客户确认的规则。是否成立，要看复训更省时、使用是否持续、现场维护成本能否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依据：商业化建议与收费假设，尚无付费客户或签约证据。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我们希望和一家制造或仓储企业做四周并行试点。第一周确认岗位动作和人工基线，第二周让 AI 与人工同时记录，第三周专门测试遮挡、机位变化和不同员工，第四周与负责人复盘。我们看每百人训练工时、计数和错误判断一致性、需要复核的比例，以及复训以后错误有没有减少。双方先约定验收阈值，再决定是否采购和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依据：本次提出的试点计划，尚非客户承诺。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希望让一线员工每次练习都得到具体指导，让主管看见员工的进步。接下来，我们需要一家试点企业，开放一个训练点，也需要一位岗位专家，和我们一起确认动作与验收标准。四周以后，用现场记录决定产品下一步。谢谢各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依据：本次试点合作请求。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是建议搭建的独立智能体。独立性需要由工具、输入、输出和失败处理证明。优先完成其中至少十个的实际平台运行，并根据平台规则核验有效性。表格中列出的工具能力有已有代码基础，也有需要补齐的业务适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依据：本次 A 赛道空间方案，平台发布待核验。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六类安全规则可以封装为相应的风险智能体，输出不同的事件证据和处置建议。复核智能体记录人工确认结果，样本管理与模型智能体管理授权数据和评估。尤其要验证失败分支，例如 PPE 权重缺失时报告不可用，不能把没有输出解释为人员安全。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依据：src/pipeline_safety/ 提供安全工具基础，其余业务适配及平台角色为方案。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项目当前最成熟的是训练 Web 主链。安全模块已有代码和事件记录，但默认 PPE 权重缺失，需要先补齐并联调。企业治理功能主要处在契约设计阶段，平台空间也需要提供发布与调用证据。正式考核前，要把记录与服务端会话绑定，完成鉴权和防重放。我们以这些明确的验收项控制下一阶段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依据：源码核查：web_app.py、src/pipeline_safety/、config/safety/default.json、references/api-mapping.md；本次测试结果。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测算示例，不是试点结果。假设一个训练点每月一千二百人次，每人减少五分钟观察整理，但仍需要一分钟复核，综合人工成本每小时六十元。月度净节省八十小时，对应四千八百元。这个金额还没有扣设备、软件、部署和维护。只有客户实测后仍有足够净收益，年度服务才有定价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依据：本次商业假设与算术示例：1200×(5−1)/60=80 小时，80×60=4800 元/月。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演示先确认真实模型、相机与机位已准备好。前十秒展示入镜和项目，接下来用一次明显错误动作展示纠错，再完成正确周期和计数，最后展示会话总结。若摄像头或模型不可用，明确说明本次无法判定，切换到可视化页面解释交互。不能把固定姿态演示当成真实推理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 /coach、/api/session/*、Ghost Coach 演示入口；本次演示设计。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212bab137b4c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d1bb752474450f" /><Relationship Type="http://schemas.openxmlformats.org/officeDocument/2006/relationships/slideLayout" Target="/ppt/slideLayouts/slideLayout1.xml" Id="R516c277cca4b4f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6c277cca4b4f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8f9f106cb4a67" /><Relationship Type="http://schemas.openxmlformats.org/officeDocument/2006/relationships/image" Target="/ppt/media/image.jpeg" Id="R0eb16c99d9c645be" /><Relationship Type="http://schemas.openxmlformats.org/officeDocument/2006/relationships/notesSlide" Target="/ppt/notesSlides/notesSlide1.xml" Id="R1b2368e7c29741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981824d224406" /><Relationship Type="http://schemas.openxmlformats.org/officeDocument/2006/relationships/notesSlide" Target="/ppt/notesSlides/notesSlide2.xml" Id="Rd5ee9c9013de4f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6aca38342412f" /><Relationship Type="http://schemas.openxmlformats.org/officeDocument/2006/relationships/image" Target="/ppt/media/image2.jpeg" Id="Rb67d1003b82047ed" /><Relationship Type="http://schemas.openxmlformats.org/officeDocument/2006/relationships/notesSlide" Target="/ppt/notesSlides/notesSlide3.xml" Id="Reb33358e5e5e4d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614c430f04fed" /><Relationship Type="http://schemas.openxmlformats.org/officeDocument/2006/relationships/image" Target="/ppt/media/image3.jpeg" Id="Rdd566830581c4fd3" /><Relationship Type="http://schemas.openxmlformats.org/officeDocument/2006/relationships/notesSlide" Target="/ppt/notesSlides/notesSlide4.xml" Id="Rf3b9a32886ce45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2ee922b8f425b" /><Relationship Type="http://schemas.openxmlformats.org/officeDocument/2006/relationships/notesSlide" Target="/ppt/notesSlides/notesSlide5.xml" Id="R6fc65db8ce764a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420ad14a54e8f" /><Relationship Type="http://schemas.openxmlformats.org/officeDocument/2006/relationships/notesSlide" Target="/ppt/notesSlides/notesSlide6.xml" Id="R49094b3b368a48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da1e4051941e2" /><Relationship Type="http://schemas.openxmlformats.org/officeDocument/2006/relationships/notesSlide" Target="/ppt/notesSlides/notesSlide7.xml" Id="R8bd0430554c149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fb5b459344831" /><Relationship Type="http://schemas.openxmlformats.org/officeDocument/2006/relationships/notesSlide" Target="/ppt/notesSlides/notesSlide8.xml" Id="R0bc7bda09e6b4a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90468ca364a67" /><Relationship Type="http://schemas.openxmlformats.org/officeDocument/2006/relationships/notesSlide" Target="/ppt/notesSlides/notesSlide9.xml" Id="R0226bafe6ad948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05bac12764e1f" /><Relationship Type="http://schemas.openxmlformats.org/officeDocument/2006/relationships/notesSlide" Target="/ppt/notesSlides/notesSlide10.xml" Id="R3190f7f3ca8148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127a8e2524713" /><Relationship Type="http://schemas.openxmlformats.org/officeDocument/2006/relationships/notesSlide" Target="/ppt/notesSlides/notesSlide11.xml" Id="Re41dfe4568044e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1b13ac21b47fc" /><Relationship Type="http://schemas.openxmlformats.org/officeDocument/2006/relationships/notesSlide" Target="/ppt/notesSlides/notesSlide12.xml" Id="R4a82fc2ec8fa42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c231209324235" /><Relationship Type="http://schemas.openxmlformats.org/officeDocument/2006/relationships/notesSlide" Target="/ppt/notesSlides/notesSlide13.xml" Id="Rb66c8d534b2c46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76c4cd53b4263" /><Relationship Type="http://schemas.openxmlformats.org/officeDocument/2006/relationships/notesSlide" Target="/ppt/notesSlides/notesSlide14.xml" Id="R83f07db038af461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6e97f129e4ebc" /><Relationship Type="http://schemas.openxmlformats.org/officeDocument/2006/relationships/notesSlide" Target="/ppt/notesSlides/notesSlide15.xml" Id="R688d9af5d21540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dd86b7fa8468f" /><Relationship Type="http://schemas.openxmlformats.org/officeDocument/2006/relationships/notesSlide" Target="/ppt/notesSlides/notesSlide16.xml" Id="R4a054c5ea8f1469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8a6f17a78407b" /><Relationship Type="http://schemas.openxmlformats.org/officeDocument/2006/relationships/notesSlide" Target="/ppt/notesSlides/notesSlide17.xml" Id="R476c9ee01cf843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9810C-9F02-4A8E-8447-21768D06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0"/>
            <a:ext cx="5543550" cy="68580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604FD-44CC-4674-99C4-C8E21E6D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练了么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83B3A-2DBD-43DA-9BC4-8B1DDB4B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715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让每一次岗位训练，</a:t>
            </a:r>
          </a:p>
          <a:p xmlns:a="http://schemas.openxmlformats.org/drawingml/2006/main">
            <a:pPr>
              <a:defRPr sz="39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都有人看动作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B961D-3A52-4E5A-89B4-15B8E294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面向制造与仓储的</a:t>
            </a:r>
          </a:p>
          <a:p xmlns:a="http://schemas.openxmlformats.org/drawingml/2006/main">
            <a:pPr>
              <a:defRPr sz="22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AI 动作教练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1D2F0-7D94-4CEE-A02B-9071DDE3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2026 全球智能体大赛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A 赛道 · 智能体搭建赛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FFDDD-B947-4518-A8A8-E21D6802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657350"/>
            <a:ext cx="469582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4263B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16c99d9c645be"/>
          <a:stretch xmlns:a="http://schemas.openxmlformats.org/drawingml/2006/main"/>
        </p:blipFill>
        <p:spPr>
          <a:xfrm xmlns:a="http://schemas.openxmlformats.org/drawingml/2006/main">
            <a:off x="7153275" y="1867268"/>
            <a:ext cx="4505325" cy="253291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3FD21-6E08-4D62-9C2D-B7C26415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9587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即时指导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635AD-D264-4E7C-B5AC-646D1385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95875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08C8A-0AB8-494F-ABA6-80F85A65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6388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员工看见怎么改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E8FAF-6895-4FE6-9930-F9ADCBDC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3880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主管知道谁该复训</a:t>
            </a:r>
          </a:p>
        </p:txBody>
      </p:sp>
    </p:spTree>
    <p:extLst>
      <p:ext uri="{BB962C8B-B14F-4D97-AF65-F5344CB8AC3E}">
        <p14:creationId xmlns:p14="http://schemas.microsoft.com/office/powerpoint/2010/main" val="5552759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0FFC4-27AB-47C1-94B8-F1BC7319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培训结束以后，谁来确认动作做对了？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96206-E8A4-4A01-A65E-195A9252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A602B-8662-4BAC-BA17-03515D26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108B5-C02B-43E9-9CBC-25BF8AE0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E3C41-B4A3-4FE1-BCF1-41442BB9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467100" cy="3267075"/>
          </a:xfrm>
          <a:prstGeom xmlns:a="http://schemas.openxmlformats.org/drawingml/2006/main" prst="roundRect">
            <a:avLst>
              <a:gd name="adj" fmla="val 34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464FA-5B99-4775-A910-CD5D0B84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8122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083BC-A9D7-4BF3-8605-DBD02636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86075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员工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CF052-EA90-43C6-AA16-717CBEA1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590925"/>
            <a:ext cx="2933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需要当场知道怎么改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0EC04-AD5D-4399-8E29-BF59F630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257675"/>
            <a:ext cx="293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“膝盖往外打开”</a:t>
            </a:r>
          </a:p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比一条笼统评分更有用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F4FED-BE19-4375-8A62-7ED5D1F4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467100" cy="3267075"/>
          </a:xfrm>
          <a:prstGeom xmlns:a="http://schemas.openxmlformats.org/drawingml/2006/main" prst="roundRect">
            <a:avLst>
              <a:gd name="adj" fmla="val 34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AD7F8-EDA0-4CBA-B0C0-6840E538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8122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7EA0D-C36F-4E93-8A3D-C200123E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86075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班组长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27E62-B437-4DF9-B25F-8FD39AE2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90925"/>
            <a:ext cx="2933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需要逐个看动作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924DF-2181-4A6A-A9B2-3AD84797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57675"/>
            <a:ext cx="293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示范以后，仍要反复纠正</a:t>
            </a:r>
          </a:p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人数增加，观察负担增加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B8393-4B32-4F36-95AA-4B8CA508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52625"/>
            <a:ext cx="3467100" cy="3267075"/>
          </a:xfrm>
          <a:prstGeom xmlns:a="http://schemas.openxmlformats.org/drawingml/2006/main" prst="roundRect">
            <a:avLst>
              <a:gd name="adj" fmla="val 3499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70E0C-43C2-4CFA-914C-E8A9A675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18122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0CCE39-636C-4137-A468-D5F15A8F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86075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7C186-3F6F-4287-A0A2-074E955A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90925"/>
            <a:ext cx="2933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需要知道谁该复训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91CBA-5B6E-4602-BA44-53196BA2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57675"/>
            <a:ext cx="293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参加培训只是起点</a:t>
            </a:r>
          </a:p>
          <a:p xmlns:a="http://schemas.openxmlformats.org/drawingml/2006/main">
            <a:pPr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动作记录支持后续跟进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5A1A91-665F-4896-B83B-D48C06A9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入职、转岗、复训，都需要持续观察与记录</a:t>
            </a:r>
          </a:p>
        </p:txBody>
      </p:sp>
    </p:spTree>
    <p:extLst>
      <p:ext uri="{BB962C8B-B14F-4D97-AF65-F5344CB8AC3E}">
        <p14:creationId xmlns:p14="http://schemas.microsoft.com/office/powerpoint/2010/main" val="3705519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6E8CE-C318-47C1-86BA-BC4CBC13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员工练一遍，主管拿到一份记录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19816-82EF-426C-ACAC-5EEB2ED5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764D0-C493-42A2-8DE7-EADDE777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0C792-826C-41D8-9B7D-F3EA30EA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d1003b82047ed"/>
          <a:stretch xmlns:a="http://schemas.openxmlformats.org/drawingml/2006/main"/>
        </p:blipFill>
        <p:spPr>
          <a:xfrm xmlns:a="http://schemas.openxmlformats.org/drawingml/2006/main">
            <a:off x="610801" y="1857375"/>
            <a:ext cx="7522349" cy="422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A9FC9-F613-435B-82F7-E675A446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2882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  选择训练项目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8C041-CB43-45AA-BB02-4BCA49AC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动作和次数由任务约定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70023-CF4F-4899-8A7F-1AFCB594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3852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  实时指导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51DE2-E574-4AA5-854B-860E49BA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195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阶段、纠错、完整周期计数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C64DB-1683-4996-9F86-A7470237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2917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03  留下训练记录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2ACAA-E644-4763-BC7C-0DE76E33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10200"/>
            <a:ext cx="3028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会话总结和认证记录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0A0F1-7C10-431A-B40E-2C78ED92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既有产品界面演示。企业任务分发与台账回写列入接入计划</a:t>
            </a:r>
          </a:p>
        </p:txBody>
      </p:sp>
    </p:spTree>
    <p:extLst>
      <p:ext uri="{BB962C8B-B14F-4D97-AF65-F5344CB8AC3E}">
        <p14:creationId xmlns:p14="http://schemas.microsoft.com/office/powerpoint/2010/main" val="915390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01867-6177-4343-B56F-E9A34B53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膝盖往外打开，指导就在动作发生时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60B3C-C4D8-4E95-A0CC-702270F0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8881F-60CB-412F-BD19-DE9FE3F3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168C2-395F-4888-938D-4354F1B9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66830581c4fd3"/>
          <a:stretch xmlns:a="http://schemas.openxmlformats.org/drawingml/2006/main"/>
        </p:blipFill>
        <p:spPr>
          <a:xfrm xmlns:a="http://schemas.openxmlformats.org/drawingml/2006/main">
            <a:off x="609600" y="1810965"/>
            <a:ext cx="8229600" cy="462672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F0CBE-FFA0-4BAD-9D59-3BD56361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574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看见具体错误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EFDBD-01EB-498E-A943-BD867498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3845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膝盖与躯干</a:t>
            </a:r>
          </a:p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直接在画面中提示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81986-B8E9-437E-AF86-BD8BB0F7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000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完成完整周期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B441D-4CB2-4A15-88F9-F31C053D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78155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规则判断阶段</a:t>
            </a:r>
          </a:p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累计动作次数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C76F4-30BA-4DCF-A949-81331549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9531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可视化界面演示</a:t>
            </a:r>
          </a:p>
        </p:txBody>
      </p:sp>
    </p:spTree>
    <p:extLst>
      <p:ext uri="{BB962C8B-B14F-4D97-AF65-F5344CB8AC3E}">
        <p14:creationId xmlns:p14="http://schemas.microsoft.com/office/powerpoint/2010/main" val="5596283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52C0C-92D7-40BB-AE20-3067DCB9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训练之外，现场风险也能及时提醒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1AD83-E76F-4793-B07D-39B0B2EA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FFE52-7788-4ED9-9983-EA51CAA7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4DD18-D364-4035-8C4E-B8CD91F9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4FB4F-B14B-4C20-B103-3BD7B18C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19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6 类规则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159BF-D452-4ABA-98E3-857682B2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5433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过度弯腰 / 疑似跌倒</a:t>
            </a:r>
          </a:p>
          <a:p xmlns:a="http://schemas.openxmlformats.org/drawingml/2006/main">
            <a:pPr>
              <a:def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头盔缺失 / 危险区进入</a:t>
            </a:r>
          </a:p>
          <a:p xmlns:a="http://schemas.openxmlformats.org/drawingml/2006/main">
            <a:pPr>
              <a:def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低头静止 / 倒地静止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A7CE7-3366-4027-98C6-26835D16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571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事件记录保留规则、持续时间、</a:t>
            </a:r>
          </a:p>
          <a:p xmlns:a="http://schemas.openxmlformats.org/drawingml/2006/main">
            <a:pPr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工位和确认状态，可保存截图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943600" y="1924050"/>
          <a:ext xmlns:a="http://schemas.openxmlformats.org/drawingml/2006/main" cx="5638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485900"/>
                <a:gridCol w="1485900"/>
              </a:tblGrid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规则例子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持续时间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同类冷却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危险区进入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0.35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过度弯腰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头盔缺失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DEC19-4EDB-4F57-AE32-8DAB6E9B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81600"/>
            <a:ext cx="563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持续门控 + 冷却 + 跟踪状态清理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3C392-096E-4E8F-9EFD-8D62FC05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安全模块已开发。PPE 权重需补齐，规则参数需按工位验证；静止类信号仅用于提醒核查</a:t>
            </a:r>
          </a:p>
        </p:txBody>
      </p:sp>
    </p:spTree>
    <p:extLst>
      <p:ext uri="{BB962C8B-B14F-4D97-AF65-F5344CB8AC3E}">
        <p14:creationId xmlns:p14="http://schemas.microsoft.com/office/powerpoint/2010/main" val="6082721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F1304E-CC34-4356-9192-C3B3C588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一个智能体空间，完成一项现场任务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92C70-EF89-438E-BF4C-5A9A2A37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3FA18-14E7-4BAA-8269-971B899A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4A632-5DF0-460B-BA7B-FAB93039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85978-F408-4844-9C18-03DE5755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381250" cy="4019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037BF-ECC5-40C0-892A-060D0A6C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1943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233F1-215F-4F37-B688-484B46C7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943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一个智能体空间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A39A8-264A-47F4-B00B-ED435563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9431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选择标准</a:t>
            </a:r>
          </a:p>
          <a:p xmlns:a="http://schemas.openxmlformats.org/drawingml/2006/main">
            <a:pPr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完成训练</a:t>
            </a:r>
          </a:p>
          <a:p xmlns:a="http://schemas.openxmlformats.org/drawingml/2006/main">
            <a:pPr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生成记录</a:t>
            </a:r>
          </a:p>
          <a:p xmlns:a="http://schemas.openxmlformats.org/drawingml/2006/main">
            <a:pPr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安排复训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3E3B0-E16F-4584-94A7-BFBCA8F6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43325"/>
            <a:ext cx="3333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11399-53B2-4775-BDEA-2B4E40D9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69570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5C75B-4B67-4D5F-AC28-FD3B3FC6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33550"/>
            <a:ext cx="3714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3C8C4F-A336-406C-88C0-B65A2BB2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43100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04  任务与标准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D0F14-A9AE-4D6B-9A01-2B412EC7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14600"/>
            <a:ext cx="3257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任务调度、岗位标准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训练计划、设备检查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EA234-2B50-4065-A9EE-842A0E4A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33550"/>
            <a:ext cx="38671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EEFCC-FF6C-4DB3-A49B-A3144866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431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05  训练与评估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5D358-7860-47F8-9E4E-30835017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3409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动作教练、考核记录、复训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动作答疑、批次报告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0F9314-3191-4040-AE87-27FCFD18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43325"/>
            <a:ext cx="3714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56BEB-3AE9-49DD-81FE-ABC88D28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52875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06  风险提醒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7EF84-43A6-4E13-8582-8DE759F9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24375"/>
            <a:ext cx="3257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六类现场规则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事件证据与处置提示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E00678-FFD3-4833-9E43-6C847278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43325"/>
            <a:ext cx="38671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5A4D7A-D675-4D89-8537-6228B065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52875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04  复核与模型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9871E5-94E1-462E-94D9-B8F743B6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24375"/>
            <a:ext cx="3409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事件复核、样本管理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模型训练、权重管理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160374-16D8-4B3B-9314-E10DE62F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629275"/>
            <a:ext cx="794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19 个建议角色，围绕同一任务交付独立结果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D4B95D-A6B4-40D9-B453-C3D20BAC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空间搭建方案。发布与有效性待平台核验，各角色需独立工具、调用样例与失败分支</a:t>
            </a:r>
          </a:p>
        </p:txBody>
      </p:sp>
    </p:spTree>
    <p:extLst>
      <p:ext uri="{BB962C8B-B14F-4D97-AF65-F5344CB8AC3E}">
        <p14:creationId xmlns:p14="http://schemas.microsoft.com/office/powerpoint/2010/main" val="2723354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6BC5AA-BE0E-4C15-8761-C057929A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实时判定留在本地，智能体负责业务协同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C6562-112E-4655-A060-74B0582E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80AC6-B701-41C7-AD10-1A225AE3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F90A0-7AE4-4A5E-8E2B-3FE532E3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F75EC-E6D1-4F67-92D3-9ED68BC2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96D11-82F6-4103-8C06-896E5840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859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智能体协同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C16C8-75FE-4BDA-BA28-50F8A8FE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14525"/>
            <a:ext cx="8201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选择任务     解释结构化结果     安排复核与复训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1AD60-8B7D-4100-A58E-170B4B76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本地训练链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7A48D-FB9C-471B-A0BF-6C5BADCF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2385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E0F18-A88C-4517-B99F-80EFA35A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17 关键点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610EF-9131-4270-8EB0-28CBF3E9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RTMPose / RTMO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68E66-3C20-484E-B5BE-01383D55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990975"/>
            <a:ext cx="4476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AAC6C-0E7B-4196-88B3-64AD7CED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4335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6D37B-77C2-4520-BD5D-61F0EF4A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2385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B25CA-A185-460E-BDB7-39580656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433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11 类动作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BEAEE-A3D0-40ED-8AC6-E238CD3F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14800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ST-GCN 动作分类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36400-041B-4565-AEE6-681DFC7C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90975"/>
            <a:ext cx="4381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193E5-8EDF-4849-BB6D-64DFD5A2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94335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90F06-5FB6-4508-9B60-90079537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32385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E75F93-044D-4AD9-B4CB-BA7B5755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433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阶段、计数与纠错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1F687-3C18-402F-8CD3-F79623F7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几何规则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D705E2-AB5C-4D25-8635-0FBDC38D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本地安全链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6167A1-E2DE-4307-8B01-424CA4CE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95850"/>
            <a:ext cx="433387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BDFB33-809D-4BE1-9B27-4F9A4C87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0863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YOLO Pose 与 PPE 检测接口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7E3474-242E-44F1-B21D-9FD8496B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276850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8A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CC6E55-67AB-4998-8BD5-AF1B7B38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29225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8A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C0382E-29F7-41F5-8F28-58E9CDEC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95850"/>
            <a:ext cx="40100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9F4750-A3BF-4E60-88E5-3D3C0652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86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时序规则判定与事件记录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8F680D-F2EE-4F9B-A637-18661CC5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核心逐帧计数不依赖生成式模型；PPE 权重需补齐，目标设备延迟及并发需要实测</a:t>
            </a:r>
          </a:p>
        </p:txBody>
      </p:sp>
    </p:spTree>
    <p:extLst>
      <p:ext uri="{BB962C8B-B14F-4D97-AF65-F5344CB8AC3E}">
        <p14:creationId xmlns:p14="http://schemas.microsoft.com/office/powerpoint/2010/main" val="1639402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669C79-00F9-40E3-9140-CA699F76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企业自己的动作样本，可以反复使用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73C12-7DB4-4D83-A97A-AA6F6EB8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550F7-85C4-4F2C-A73F-B218EE97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EBDD3-9299-4C89-9198-E7F97728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58668-D914-46FF-B8F1-59F9FD98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已经具备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BDC48-4AE5-4FC1-AD1F-05F18B67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5146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086FB-DAC8-4357-B0C0-87E266DA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77976-CCCC-4AF4-BE85-9E41B9A8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05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本地数据输入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E31ED-7490-4811-8F2E-7C3F02FA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90850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8A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2C48A-78B3-4EAA-96AC-3751DE28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43225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8A6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BAA0B-2F50-4EE8-AA90-620811F6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25146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B4225-9AC1-45A0-90BF-B8E69B2B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765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训练选优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365E3-584A-4783-BAB2-A04E21CD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48000"/>
            <a:ext cx="205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选择最优 checkpoint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DAEB1-11A7-4037-99BC-3EE83500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90850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8A6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EECE5-444B-453C-9BA2-7F61A097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8A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4C0D00-42A9-4E3E-B70A-E66751AD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25146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CF52C-241A-4E92-877D-F9C39E47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本地权重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118673-8CD0-4BFB-BC87-1F7A6EF0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205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保存模型文件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E38C54-0762-4F34-946D-83FADA49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90850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8A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220F08-39BE-44DC-A26C-BFEF11EE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43225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8A6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EF7908-026E-460F-B5BD-8C1B10B5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25146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B7F45C-5669-42F9-BE7C-BD2D0532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765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后续推理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232E68-6242-4CFF-A2A7-5E94E297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48000"/>
            <a:ext cx="205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直接加载使用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18363-C73C-4710-9161-E9AFC0F1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企业接入计划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058478-9AD5-4902-AB8F-1D306191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2514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4D469C-AB1B-4E2C-9F90-E43D06C9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授权与标准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70B6AF-008E-4EA5-B199-9D7F58A9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625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企业样本与岗位规则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A12459-1131-42AC-B619-5638EB89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267325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3DB180-C514-437E-ADF5-14421CFB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1970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742EB7-623A-4B87-9C80-865B1858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81525"/>
            <a:ext cx="2514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9A0796-DE21-4E22-9420-8F5BB6A0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910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版本管理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A510AF-7E49-4263-9FE4-0DBF1CD7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3625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按企业登记模型资产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0059F8-D2EA-4034-A536-14B4FC87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67325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8CDC63-5C8F-44C9-9929-7110A11B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5FDDFF-666B-492C-B179-8BADBEAB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81525"/>
            <a:ext cx="2514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D8902F-E204-4A07-BEFF-56FB0B4E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910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独立评估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2FED7E-A383-4915-B40C-9B11EC9B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625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确认新增样本的效果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06FAE4-22F0-48A8-91C2-024AB0A7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267325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509CDD-DE1F-4AB7-AD20-7D1F9DB5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1970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CD030D-451E-41DB-9267-45C191F2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81525"/>
            <a:ext cx="2514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AD9488-C7F2-4460-9C2E-C0E068ED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7910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升级与回滚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B39DDF-F282-4560-99B1-4CE22EEB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3625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批准后部署新版本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293E60-A58B-4931-AB55-D8204927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企业自动微调、租户隔离、版本注册与回滚仍需实现；长期积累经确认的岗位规则与纠错样本</a:t>
            </a:r>
          </a:p>
        </p:txBody>
      </p:sp>
    </p:spTree>
    <p:extLst>
      <p:ext uri="{BB962C8B-B14F-4D97-AF65-F5344CB8AC3E}">
        <p14:creationId xmlns:p14="http://schemas.microsoft.com/office/powerpoint/2010/main" val="1616104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DCE680-D00C-4927-A272-608D5562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技术底座，可以逐项核验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8728F-DFB8-4654-A773-4327E8B1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5F592-AB1C-469B-A9BE-F49622C7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0999D-DCF7-46F5-8F88-D49FCE6D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52B7B-2B02-4F8A-8480-B59C04E3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571875" cy="406717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8D8C1-B257-43F8-995C-0D84E3B7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365CE-F29F-47A7-834D-F754B9D8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项流程测试通过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7D388-F198-4084-8771-E842206F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9051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页面、契约与几何规则</a:t>
            </a:r>
          </a:p>
          <a:p xmlns:a="http://schemas.openxmlformats.org/drawingml/2006/main">
            <a:pPr>
              <a:def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本次核查已重新执行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A8322-017E-4256-8F18-2B4DB39F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691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EF21E-9073-4FD9-8988-A790964D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47875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8AEB7-F4CC-48CA-9E4F-699F2B86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90725"/>
            <a:ext cx="4772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类动作分类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AB379-70A0-45C4-942C-AD4D3DDA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77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本地 ST-GCN 权重，范围可核对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7CE55-E529-479F-A2E2-5193A130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691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3D745-CE29-4FE1-B75E-FD0A99A2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29000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E2D7B-6D85-4803-BF41-09A0D13C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4772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类专项训练规则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D5F8D5-CF5E-4EF6-A20E-6BBCB434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95725"/>
            <a:ext cx="477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阶段、计数与动作纠错，主演示深蹲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F492C-7567-413A-A96B-80FD05CC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72000"/>
            <a:ext cx="691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A751E-3FEA-4665-B90D-63D9D0FA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810125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本地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AD685-4AEF-402E-85B6-FDBA59F3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52975"/>
            <a:ext cx="4772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视觉推理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F9209-0904-4CDB-B648-9F4B6F6F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76850"/>
            <a:ext cx="477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本地模型权重，逐帧推理在本地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7C916-D3F6-439C-8041-D10734C8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流程测试不代表模型精度。企业现场泛化、误报漏报与设备性能，进入试点单独验收</a:t>
            </a:r>
          </a:p>
        </p:txBody>
      </p:sp>
    </p:spTree>
    <p:extLst>
      <p:ext uri="{BB962C8B-B14F-4D97-AF65-F5344CB8AC3E}">
        <p14:creationId xmlns:p14="http://schemas.microsoft.com/office/powerpoint/2010/main" val="16306066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C1D371-5BCF-4CAF-B6BB-87D2A164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第一笔收入，来自一个训练点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97029-01F7-4595-B780-9CE2B905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13D6E-7AD3-476C-B46D-F58AFE7B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FEB01-1769-40A5-9674-14B86080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500FD-0810-4BF8-BF13-B454289D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首个购买场景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5CED4-BE5C-4853-BA85-0EA6F531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8101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制造 / 仓储</a:t>
            </a:r>
          </a:p>
          <a:p xmlns:a="http://schemas.openxmlformats.org/drawingml/2006/main">
            <a:pPr>
              <a:defRPr sz="26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一个有明确考核需求的训练点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CC1C8-BED9-4B0D-B1D1-9280CE5B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4619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推动：培训负责人或 EHS</a:t>
            </a:r>
          </a:p>
          <a:p xmlns:a="http://schemas.openxmlformats.org/drawingml/2006/main">
            <a:pPr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使用：班组长与一线员工</a:t>
            </a:r>
          </a:p>
          <a:p xmlns:a="http://schemas.openxmlformats.org/drawingml/2006/main">
            <a:pPr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部署：IT 参与确认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83D4A-5EB3-4126-A3D2-CA410205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476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DA34D-F1E7-4C5D-A1DF-72B85394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采购依据：复训效率与持续使用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43AB9-1C11-4F21-96FB-8EF1005B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057400"/>
            <a:ext cx="259080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67514-93E6-4304-BADE-0B3D0088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岗位适配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A624E-5D07-4B07-A2FA-FF8F3FFB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3845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岗位规则确认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部署与适配费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A0359-8EA0-4FC0-8057-85BEDD96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00375"/>
            <a:ext cx="2190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8ADDE-E91B-462F-8749-01CB6FBE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150101-5EBF-4481-AD4A-CE9B5DDC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57400"/>
            <a:ext cx="257175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5528E-FD98-487B-8253-F4DE4464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训练点服务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6A0F4-1A33-487B-8DAF-C4CC52F7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38450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年度服务费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持续复训与支持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F7827B-0532-44F0-A2EF-D7F8F8EA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343400"/>
            <a:ext cx="55721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0E272-F4AD-4DC7-8865-3BD9EC75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67250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扩展到相邻岗位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85D5AE-9FCC-4419-9FFF-A33AFD61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76850"/>
            <a:ext cx="5334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复用引擎与事件记录，新增经企业确认的规则</a:t>
            </a:r>
          </a:p>
          <a:p xmlns:a="http://schemas.openxmlformats.org/drawingml/2006/main">
            <a:pPr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现场维护与复核成本纳入毛利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98009-ED45-41AE-A445-8CFDD956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收费方式为商业假设，尚无付费或签约证据；招聘与转岗评估保留为相邻场景</a:t>
            </a:r>
          </a:p>
        </p:txBody>
      </p:sp>
    </p:spTree>
    <p:extLst>
      <p:ext uri="{BB962C8B-B14F-4D97-AF65-F5344CB8AC3E}">
        <p14:creationId xmlns:p14="http://schemas.microsoft.com/office/powerpoint/2010/main" val="4342761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66A267-38CE-4B94-8F34-D61E26AE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四周试点，把采购问题逐项回答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019A9-C6ED-42DD-9FE0-4116A50C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2D310-154F-4225-9E9A-AA142C5A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543F5-6C7E-48DA-BDBF-849E0ADD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5A573-F62E-4207-AE8B-0146B5CA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62225"/>
            <a:ext cx="1028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FC4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DDB0D-A451-453E-9CD0-270BD1FD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25146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F7CE8-0A4B-47AE-B6FE-58046748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22172-54B9-42C8-90F5-5BD48C80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514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5E829-8D66-492D-8200-4BF6D093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定标准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70582-7C24-4AA9-8A2A-180B6253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确认岗位动作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记录人工基线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205DF-6435-4966-913F-719F01C9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24075"/>
            <a:ext cx="25146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BE8BE-3F61-4658-9DBC-86F40193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2 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DA5BC-DBA2-408D-BDD5-419A2257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00400"/>
            <a:ext cx="2514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D6A80-9B5E-4528-B9A5-FD06E317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099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并行训练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58DED-244B-48BA-A51B-2AF69078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AI 与人工同时记录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保留分歧样例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56A86-846E-4D6A-832A-CBE202D1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25146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A84F0-78EA-4E71-A603-E0B30C5C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336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3 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43A30-F699-4FC2-B87C-6326A8BF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2514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625275-BFBD-4970-90EC-2BFCFD97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测复杂场景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8038A-06CD-4290-A9E8-60BDA2D4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变化机位与遮挡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不同员工参与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26FA06-62FA-4C82-A84B-225B5CBA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24075"/>
            <a:ext cx="25146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008A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D782DF-EF73-481C-83DF-CFF9C938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336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2AA7F2-F5AB-48BB-A2F9-AC44BFE0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00400"/>
            <a:ext cx="2514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5525F3-6BD9-4F88-BCA9-5B073D77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099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共同复盘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5FDFD3-B0ED-4990-B9BB-B94C7230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81450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对照验收指标</a:t>
            </a:r>
          </a:p>
          <a:p xmlns:a="http://schemas.openxmlformats.org/drawingml/2006/main">
            <a:pPr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决定采购与扩展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73D77B-2355-41F3-A72F-12FA186E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9728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18A22E-AC77-4D5A-8F85-11ACB1B9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53075"/>
            <a:ext cx="1676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验收指标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296F87-7862-48D3-8985-D6757DA0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53075"/>
            <a:ext cx="868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工时    判断一致性    复核率    复训后错误率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160629-D914-4A7A-B383-489B604C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试点计划，尚非客户承诺。阈值提前共同约定；安全模块另测每摄像头小时误报与漏报</a:t>
            </a:r>
          </a:p>
        </p:txBody>
      </p:sp>
    </p:spTree>
    <p:extLst>
      <p:ext uri="{BB962C8B-B14F-4D97-AF65-F5344CB8AC3E}">
        <p14:creationId xmlns:p14="http://schemas.microsoft.com/office/powerpoint/2010/main" val="12113984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A9A85-DD67-42A7-B0D9-C63C5335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练了么 · AI 动作教练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DE642-714C-4C91-9EF6-EB560B24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05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90CF4-B382-4EEE-8C1B-27AD4953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FC064-C390-4434-9F98-70ED458E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DF504-036A-4EF1-ADB3-876B1B50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我们寻找一家试点企业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FE091-56CB-434B-AE93-31995639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409950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3273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4A12C-CF18-4EA4-8B85-E3016315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290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1 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70BD8-3B8C-4FF9-8711-961AD070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52900"/>
            <a:ext cx="2971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9CA96-6FE7-41DF-8203-A88EC49F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00400"/>
            <a:ext cx="3409950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3273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0F43C-EFBA-4A08-924B-B0FB9C73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290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1 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2B09C-A29B-4D57-AE20-5022E2F9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52900"/>
            <a:ext cx="2971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岗位专家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75FDB-3B2A-4E36-B3C6-85ECD21D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0400"/>
            <a:ext cx="3409950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3273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05DAC-8D44-4CE4-8883-7AD0CA54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4290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4 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19B64-C011-4A2D-B3D4-7A1E156A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152900"/>
            <a:ext cx="2971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并行验证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EC769-7CAC-4126-AAC7-AECC1C88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让一线员工做对动作，让主管看见进步</a:t>
            </a:r>
          </a:p>
        </p:txBody>
      </p:sp>
    </p:spTree>
    <p:extLst>
      <p:ext uri="{BB962C8B-B14F-4D97-AF65-F5344CB8AC3E}">
        <p14:creationId xmlns:p14="http://schemas.microsoft.com/office/powerpoint/2010/main" val="2050118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A6AFE-9B49-49AA-A032-2DD1E0BD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智能体分工 01–10：任务与训练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19056-3F53-4DFA-AAED-8809E816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24EFE-B3A8-4905-9E93-30A11F8C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建议搭建清单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11B5E-EC41-46D7-83D6-AE810880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45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905250"/>
                <a:gridCol w="4829175"/>
              </a:tblGrid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智能体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/ 工具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独立产物与验收点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任务调度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自然语言任务 / 任务适配器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任务拆解、负责人、缺失信息追问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岗位标准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岗位与动作 / 企业标准库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带来源和版本的标准，未知标准转确认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训练计划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人员项目 / 计划工具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训练项目与次数，缺失目标时追问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 设备检查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机位与帧 / 质量检测工具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入镜检查和调整建议，不足时阻止开始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 动作教练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会话帧 / 本地推理 API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阶段、次数、纠错与总结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06 考核记录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服务端会话 / 记录适配器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可追溯记录，拒绝无依据的次数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07 复训安排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错误摘要 / 计划工具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错误对应的复训任务与复测条件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08 动作答疑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员工问题 / 标准知识库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有来源的动作说明，超范围转人工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 批次报告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会话集合 / 汇总工具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完成清单、分歧项与需复训人员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弯腰提醒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姿态事件 / bend 规则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角度与持续时间，未达门控不告警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DE702-CCE2-4E45-85BD-64CDECB3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角色方案尚需平台配置与调用记录。共用底层工具时，各角色仍应交付不同的业务结果</a:t>
            </a:r>
          </a:p>
        </p:txBody>
      </p:sp>
    </p:spTree>
    <p:extLst>
      <p:ext uri="{BB962C8B-B14F-4D97-AF65-F5344CB8AC3E}">
        <p14:creationId xmlns:p14="http://schemas.microsoft.com/office/powerpoint/2010/main" val="18041022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5B420-E637-419F-ACBD-975B94E2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智能体分工 11–19：安全、复核与模型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73972-015D-4843-AA15-7733253C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0F97A-85E1-4623-8A56-76D4BAF4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建议搭建清单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90E1F-8795-4172-931D-C5B365A5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04975"/>
          <a:ext xmlns:a="http://schemas.openxmlformats.org/drawingml/2006/main" cx="10972800" cy="4362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905250"/>
                <a:gridCol w="4829175"/>
              </a:tblGrid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智能体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/ 工具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独立产物与验收点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跌倒提醒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姿态事件 / fall 规则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疑似跌倒证据和人员核查提示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头盔检查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PPE 检测 / no_helmet 规则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缺失事件，模型不可用时明确报告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 危险区提醒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区域配置 / danger_zone 规则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进入部位、区域和持续时间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低头静止提醒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姿态序列 / drowsy 规则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静止事件与核查提示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 倒地静止提醒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姿态序列 / unconscious 规则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异常姿态事件与紧急核查提示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事件复核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事件与人工意见 / 事件库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确认、撤销或待跟进的处置记录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 样本管理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授权样本 / 数据处理工具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授权范围、质量检查与训练划分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模型训练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数据版本 / 训练脚本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checkpoint 与独立评估报告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 权重管理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评估与批准 / 资产注册工具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版本登记、加载与回滚记录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94BE4-1B16-484D-88EB-D5132CF7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目标为 19 个角色；有效数量以平台验收为准。静止类识别输出行为信号，交由人员核查</a:t>
            </a:r>
          </a:p>
        </p:txBody>
      </p:sp>
    </p:spTree>
    <p:extLst>
      <p:ext uri="{BB962C8B-B14F-4D97-AF65-F5344CB8AC3E}">
        <p14:creationId xmlns:p14="http://schemas.microsoft.com/office/powerpoint/2010/main" val="14881263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41F62-63A1-433F-A136-EAC3E8B0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交付状态与下一步验收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81542-5CC9-46E3-B7BC-1DAB251E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25599-1086-4700-91EE-BEEEB86A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实现边界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47CC2-55EF-4DBC-9F4A-60DFA005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333875"/>
                <a:gridCol w="4400550"/>
              </a:tblGrid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当前证据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下一步验收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Web 主链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页面、会话、计数、纠错、总结代码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真实摄像头连续演示与稳定性记录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安全模块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姿态检测、6 类规则、事件库与确认接口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 PPE 权重，现场评估误报漏报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模型能力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本地权重、训练脚本、加载代码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按受试者/场地分组的独立测试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平台空间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 角色分工方案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至少 10 个有效智能体与协作运行记录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企业治理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字段契约及 API 映射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鉴权、幂等回写、隔离、版本与回滚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正式考核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认证记录接口已有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服务端会话绑定、人工复核与防重放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AF7C8-7C59-45F3-A1EF-0D63C1B6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核心推理可本地部署；目标设备吞吐量、现场收益及企业级治理尚不能视为已经验收</a:t>
            </a:r>
          </a:p>
        </p:txBody>
      </p:sp>
    </p:spTree>
    <p:extLst>
      <p:ext uri="{BB962C8B-B14F-4D97-AF65-F5344CB8AC3E}">
        <p14:creationId xmlns:p14="http://schemas.microsoft.com/office/powerpoint/2010/main" val="13241185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B4A40-0BB0-48CA-A8CC-C498CD65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收费空间，先用客户的工时账来算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26F85-2613-455C-9D00-67D39C40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BB2F5-5465-4952-8780-0237D26A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假设测算，非试点收益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E6300-09D3-4796-938C-7B2E79CE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6477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476500"/>
              </a:tblGrid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可替换输入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示例假设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每月训练量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1,200 人次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每人减少观察与整理时间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分钟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每人新增复核时间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分钟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综合人工成本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 元 / 小时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4FBBC-9AA2-4DAB-98A3-B06EA5D4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81225"/>
            <a:ext cx="3857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80 小时 / 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B816F-735B-46BF-8762-F93180B4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62275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净节省工时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B4936-4A6E-4679-ABFA-015F7C84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43350"/>
            <a:ext cx="3857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4,800 元 / 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19979-40D2-457B-93D6-B652B23F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2440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对应人工成本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00191-8E61-476E-A8EC-4990CA80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未扣设备、部署、软件和维护成本。用客户实测替换全部假设，再决定采购预算与报价</a:t>
            </a:r>
          </a:p>
        </p:txBody>
      </p:sp>
    </p:spTree>
    <p:extLst>
      <p:ext uri="{BB962C8B-B14F-4D97-AF65-F5344CB8AC3E}">
        <p14:creationId xmlns:p14="http://schemas.microsoft.com/office/powerpoint/2010/main" val="5096986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80D69-D834-4EDF-97D6-1CEB5A01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现场演示：45 秒讲清一次完整动作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A6B3E-4E57-4756-8BD5-BD2DC449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67B7E-53AA-4F30-B5F1-EEA6771A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演示执行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157AF-20A4-4656-8EE7-D54E411E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669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381500"/>
                <a:gridCol w="4829175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观众看到什么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要证明什么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0–10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选择深蹲项目，全身入镜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真实模型链路与机位已经准备好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10–22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一次动作错误，出现具体提示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系统指出需要调整的关节与姿态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22–35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调整姿势，完成完整动作周期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次数随完整周期增加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35–45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结束会话，展示训练总结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过程可以形成后续复训依据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016EF-A0BA-45BC-AD66-F8E36A11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故障时：明确说明无法判定，使用标注清楚的界面演示继续讲解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2604D-9F66-454C-A23E-42C27404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当前 PPT 使用既有界面图片，未嵌入真人演示视频；正式路演前按上述顺序录制</a:t>
            </a:r>
          </a:p>
        </p:txBody>
      </p:sp>
    </p:spTree>
    <p:extLst>
      <p:ext uri="{BB962C8B-B14F-4D97-AF65-F5344CB8AC3E}">
        <p14:creationId xmlns:p14="http://schemas.microsoft.com/office/powerpoint/2010/main" val="1852966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2026-09-21T11:47:40.3310000Z</dcterms:created>
  <dcterms:modified xsi:type="dcterms:W3CDTF">2026-09-21T11:47:40.3320000Z</dcterms:modified>
</coreProperties>
</file>