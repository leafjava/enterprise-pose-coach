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f91ba6b48425d" /><Relationship Type="http://schemas.openxmlformats.org/officeDocument/2006/relationships/extended-properties" Target="/docProps/app.xml" Id="R2982e6c7a61f48a2" /><Relationship Type="http://schemas.openxmlformats.org/officeDocument/2006/relationships/officeDocument" Target="/ppt/presentation.xml" Id="R1aeda784a069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68f6bfb4c2446f"/>
  </p:sldMasterIdLst>
  <p:notesMasterIdLst>
    <p:notesMasterId xmlns:r="http://schemas.openxmlformats.org/officeDocument/2006/relationships" r:id="Rcaa631e8cd5a4f15"/>
  </p:notesMasterIdLst>
  <p:sldIdLst>
    <p:sldId xmlns:r="http://schemas.openxmlformats.org/officeDocument/2006/relationships" id="256" r:id="R72ef50bb8ed24af6"/>
    <p:sldId xmlns:r="http://schemas.openxmlformats.org/officeDocument/2006/relationships" id="257" r:id="R305587f51624488d"/>
    <p:sldId xmlns:r="http://schemas.openxmlformats.org/officeDocument/2006/relationships" id="258" r:id="R18c9119390024936"/>
    <p:sldId xmlns:r="http://schemas.openxmlformats.org/officeDocument/2006/relationships" id="259" r:id="R9d7c99cba49f41b3"/>
    <p:sldId xmlns:r="http://schemas.openxmlformats.org/officeDocument/2006/relationships" id="260" r:id="Rb9a54991d817417f"/>
    <p:sldId xmlns:r="http://schemas.openxmlformats.org/officeDocument/2006/relationships" id="261" r:id="R88bc4b593a8248b6"/>
    <p:sldId xmlns:r="http://schemas.openxmlformats.org/officeDocument/2006/relationships" id="262" r:id="Re785728ce0e84091"/>
    <p:sldId xmlns:r="http://schemas.openxmlformats.org/officeDocument/2006/relationships" id="263" r:id="R1141d5053c64443e"/>
    <p:sldId xmlns:r="http://schemas.openxmlformats.org/officeDocument/2006/relationships" id="264" r:id="R58a0e55eb1ca410a"/>
    <p:sldId xmlns:r="http://schemas.openxmlformats.org/officeDocument/2006/relationships" id="265" r:id="R8e411d5be9c14455"/>
    <p:sldId xmlns:r="http://schemas.openxmlformats.org/officeDocument/2006/relationships" id="266" r:id="Re4d201aace8a4bc9"/>
    <p:sldId xmlns:r="http://schemas.openxmlformats.org/officeDocument/2006/relationships" id="267" r:id="R7b4e88cd4ff242e7"/>
    <p:sldId xmlns:r="http://schemas.openxmlformats.org/officeDocument/2006/relationships" id="268" r:id="Rb9d3c482a3f4451e"/>
    <p:sldId xmlns:r="http://schemas.openxmlformats.org/officeDocument/2006/relationships" id="269" r:id="R83b18e99404743f6"/>
    <p:sldId xmlns:r="http://schemas.openxmlformats.org/officeDocument/2006/relationships" id="270" r:id="R7d206ec6cd944e3c"/>
    <p:sldId xmlns:r="http://schemas.openxmlformats.org/officeDocument/2006/relationships" id="271" r:id="Rd4549a8104b94828"/>
    <p:sldId xmlns:r="http://schemas.openxmlformats.org/officeDocument/2006/relationships" id="272" r:id="R108820b20cd748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82803be3b46d5" /><Relationship Type="http://schemas.openxmlformats.org/officeDocument/2006/relationships/slideMaster" Target="/ppt/slideMasters/slideMaster1.xml" Id="Rc668f6bfb4c2446f" /><Relationship Type="http://schemas.openxmlformats.org/officeDocument/2006/relationships/notesMaster" Target="/ppt/notesMasters/notesMaster1.xml" Id="Rcaa631e8cd5a4f15" /><Relationship Type="http://schemas.openxmlformats.org/officeDocument/2006/relationships/presProps" Target="/ppt/presProps.xml" Id="Rfa8c55d6aa8b4727" /><Relationship Type="http://schemas.openxmlformats.org/officeDocument/2006/relationships/tableStyles" Target="/ppt/tableStyles.xml" Id="Rc38b4b0d6d8b405b" /><Relationship Type="http://schemas.openxmlformats.org/officeDocument/2006/relationships/slide" Target="/ppt/slides/slide1.xml" Id="R72ef50bb8ed24af6" /><Relationship Type="http://schemas.openxmlformats.org/officeDocument/2006/relationships/slide" Target="/ppt/slides/slide2.xml" Id="R305587f51624488d" /><Relationship Type="http://schemas.openxmlformats.org/officeDocument/2006/relationships/slide" Target="/ppt/slides/slide3.xml" Id="R18c9119390024936" /><Relationship Type="http://schemas.openxmlformats.org/officeDocument/2006/relationships/slide" Target="/ppt/slides/slide4.xml" Id="R9d7c99cba49f41b3" /><Relationship Type="http://schemas.openxmlformats.org/officeDocument/2006/relationships/slide" Target="/ppt/slides/slide5.xml" Id="Rb9a54991d817417f" /><Relationship Type="http://schemas.openxmlformats.org/officeDocument/2006/relationships/slide" Target="/ppt/slides/slide6.xml" Id="R88bc4b593a8248b6" /><Relationship Type="http://schemas.openxmlformats.org/officeDocument/2006/relationships/slide" Target="/ppt/slides/slide7.xml" Id="Re785728ce0e84091" /><Relationship Type="http://schemas.openxmlformats.org/officeDocument/2006/relationships/slide" Target="/ppt/slides/slide8.xml" Id="R1141d5053c64443e" /><Relationship Type="http://schemas.openxmlformats.org/officeDocument/2006/relationships/slide" Target="/ppt/slides/slide9.xml" Id="R58a0e55eb1ca410a" /><Relationship Type="http://schemas.openxmlformats.org/officeDocument/2006/relationships/slide" Target="/ppt/slides/slide10.xml" Id="R8e411d5be9c14455" /><Relationship Type="http://schemas.openxmlformats.org/officeDocument/2006/relationships/slide" Target="/ppt/slides/slide11.xml" Id="Re4d201aace8a4bc9" /><Relationship Type="http://schemas.openxmlformats.org/officeDocument/2006/relationships/slide" Target="/ppt/slides/slide12.xml" Id="R7b4e88cd4ff242e7" /><Relationship Type="http://schemas.openxmlformats.org/officeDocument/2006/relationships/slide" Target="/ppt/slides/slide13.xml" Id="Rb9d3c482a3f4451e" /><Relationship Type="http://schemas.openxmlformats.org/officeDocument/2006/relationships/slide" Target="/ppt/slides/slide14.xml" Id="R83b18e99404743f6" /><Relationship Type="http://schemas.openxmlformats.org/officeDocument/2006/relationships/slide" Target="/ppt/slides/slide15.xml" Id="R7d206ec6cd944e3c" /><Relationship Type="http://schemas.openxmlformats.org/officeDocument/2006/relationships/slide" Target="/ppt/slides/slide16.xml" Id="Rd4549a8104b94828" /><Relationship Type="http://schemas.openxmlformats.org/officeDocument/2006/relationships/slide" Target="/ppt/slides/slide17.xml" Id="R108820b20cd7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06652cef284c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e13b05ba4c4875" /><Relationship Type="http://schemas.openxmlformats.org/officeDocument/2006/relationships/notesMaster" Target="/ppt/notesMasters/notesMaster1.xml" Id="Rdcc6165fe7454f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2a36b9121945c7" /><Relationship Type="http://schemas.openxmlformats.org/officeDocument/2006/relationships/notesMaster" Target="/ppt/notesMasters/notesMaster1.xml" Id="R13093e0864ae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fced500b214b12" /><Relationship Type="http://schemas.openxmlformats.org/officeDocument/2006/relationships/notesMaster" Target="/ppt/notesMasters/notesMaster1.xml" Id="R001787a0185e4c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0d2610738417d" /><Relationship Type="http://schemas.openxmlformats.org/officeDocument/2006/relationships/notesMaster" Target="/ppt/notesMasters/notesMaster1.xml" Id="Ra28fcba2c41b45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461c8eebab4102" /><Relationship Type="http://schemas.openxmlformats.org/officeDocument/2006/relationships/notesMaster" Target="/ppt/notesMasters/notesMaster1.xml" Id="R59fa5e9402ed42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b7b3dd52e74ecd" /><Relationship Type="http://schemas.openxmlformats.org/officeDocument/2006/relationships/notesMaster" Target="/ppt/notesMasters/notesMaster1.xml" Id="R67ea19a080a640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aa950be08e44f0" /><Relationship Type="http://schemas.openxmlformats.org/officeDocument/2006/relationships/notesMaster" Target="/ppt/notesMasters/notesMaster1.xml" Id="R97e48eb44a564c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3e6f2be0404de1" /><Relationship Type="http://schemas.openxmlformats.org/officeDocument/2006/relationships/notesMaster" Target="/ppt/notesMasters/notesMaster1.xml" Id="Ra72c5d45c1ea43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ed73f5bafa4197" /><Relationship Type="http://schemas.openxmlformats.org/officeDocument/2006/relationships/notesMaster" Target="/ppt/notesMasters/notesMaster1.xml" Id="R6594f306ddbe4e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37faee68b9465c" /><Relationship Type="http://schemas.openxmlformats.org/officeDocument/2006/relationships/notesMaster" Target="/ppt/notesMasters/notesMaster1.xml" Id="R72201a97c3b54e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9f12f64d7046ad" /><Relationship Type="http://schemas.openxmlformats.org/officeDocument/2006/relationships/notesMaster" Target="/ppt/notesMasters/notesMaster1.xml" Id="R3feaba41914d4e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c2d6a6022545b2" /><Relationship Type="http://schemas.openxmlformats.org/officeDocument/2006/relationships/notesMaster" Target="/ppt/notesMasters/notesMaster1.xml" Id="R96ed887fca0240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e70a741c824b71" /><Relationship Type="http://schemas.openxmlformats.org/officeDocument/2006/relationships/notesMaster" Target="/ppt/notesMasters/notesMaster1.xml" Id="Rb033827ae55848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ff946bc41f423f" /><Relationship Type="http://schemas.openxmlformats.org/officeDocument/2006/relationships/notesMaster" Target="/ppt/notesMasters/notesMaster1.xml" Id="Rc79c9455a2e046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ac2ae0063a420a" /><Relationship Type="http://schemas.openxmlformats.org/officeDocument/2006/relationships/notesMaster" Target="/ppt/notesMasters/notesMaster1.xml" Id="R81a6500179a94e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c9d4ae6e7f41a4" /><Relationship Type="http://schemas.openxmlformats.org/officeDocument/2006/relationships/notesMaster" Target="/ppt/notesMasters/notesMaster1.xml" Id="R9ada51eb259349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ab418d6c41495f" /><Relationship Type="http://schemas.openxmlformats.org/officeDocument/2006/relationships/notesMaster" Target="/ppt/notesMasters/notesMaster1.xml" Id="R0aedee44f1554c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各位评委好，我们是练了么。员工看完培训视频以后，动作到底做对没有？我们希望让每一次岗位训练，都有人看动作。员工用摄像头练习，系统当场给出具体指导，主管看到训练记录和需要复训的地方。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Web 主流程及本次商业定位。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象一位刚入职的仓储员工。视频看过了，要求也听过了，真正开始做动作时，他依然需要有人提醒。班组长要逐个看、反复讲，企业还需要留下培训依据。这个断点会出现在入职、转岗和复训里。我们的切口，就是其中能够按标准观察和记录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依据：场景假设，来自项目 PRD 与用户提供的制造、仓储场景，尚非客户访谈结论。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练了么已经有 Web 实时教练和体能评估页面。员工选择动作项目，用摄像头练习，系统返回阶段、次数和纠错提示，结束后生成会话总结。这里展示的是既有产品的界面演示。企业任务分发与台账回写将在平台接入时补齐。我们的交付单位，是一项有过程、有结果的训练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依据：web_app.py /api/session/start、frame、stop 与 /api/certifications；原版产品截图。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请看这个深蹲示例。界面把需要调整的膝盖和躯干直接标出来，给出具体的动作提示。员工调整姿势，完成一次完整动作周期，次数随之增加。语音提示设有连续触发和冷却机制，避免每帧重复播报。这一页是 Ghost Coach 可视化界面演示，用来说明交互；真实模型效果应由摄像头演示和现场测试证明。答辩时，我们重点演示错误、纠正、计数这三个连续状态。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依据：src/live_coach.py；src/ghost_coach.py；static/ghost-coach.js；原版错误状态截图。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在训练之外，我们增加了独立的现场安全模块。它使用 YOLO 姿态与独立 PPE 检测接口，配置了六类规则。规则持续成立才提醒，同类事件经过冷却再告警，并保存事件和可选截图。持续静止等信号只提示人员核查。代码模块已经开发，当前默认 PPE 权重还需要补齐，现场效果也需要单独验收。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依据：src/pipeline_safety/rules.py、events.py、monitor.py；config/safety/default.json。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赛道要求至少十个有效智能体。我们围绕业务任务设计十九个角色，分别负责任务、训练、安全和复核资产。比如一项新人训练，由任务调度选择标准，教练调用本地引擎，记录智能体整理结果，复训智能体给出下一次任务。每个角色都应有独立输入和可检查的输出。这一页是空间搭建方案，平台发布及有效性需要真实调用记录来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依据：用户提供的 A 赛道通知；本次提出的空间架构方案。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动作反馈需要稳定、可解释的判断。训练链用人体关键点和动作分类，加几何规则完成阶段、计数与纠错。安全链使用另一组检测器和规则。智能体负责选择任务、解释结果和安排后续工作，核心逐帧计数不依赖生成式模型。这样既能给出明确的错误原因，也保留本地部署的选择。具体边缘设备还需要测延迟和并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依据：src/fitness_infer.py、src/live_coach.py、src/rtmpose_tran.py、src/pipeline_safety/detector.py；智能体协同为设计方案。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项目已经具备训练保存最优 checkpoint、以及后续加载本地权重的基础能力。下一阶段，我们要把授权的企业动作样本、岗位标准和复核结果串起来，按企业管理模型版本。新增样本经过独立评估以后再决定是否升级，并保留回滚记录。真正值得积累的是客户确认过的岗位规则和纠错样本。租户隔离、自动版本注册与回滚仍然是接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依据：src/train.py；src/fitness_infer.py；skill-build/enterprise-pose-coach/references/api-mapping.md。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今天可以核验的是本地模型文件、十一类动作分类、六类专项动作规则和运行中的 Web 代码。这次重新执行的二十三项流程测试全部通过。它们验证页面、契约和几何规则。企业现场的模型精度还需要按受试者和工位独立测试，我们没有把旧训练验证数字当成现场准确率。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依据：model/；src/fitness_infer.py；src/live_coach.py；本次 tools/harness.mjs test：23 tests OK；docs/real-evidence.md。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我们的第一笔收入，计划来自一个有明确动作考核需求的企业训练点。培训或 EHS 负责人推动，IT 参与，班组长使用。收费可以从岗位适配和部署开始，再按训练点收年度服务费。扩展到相邻岗位时，复用已有引擎和事件记录，新增客户确认的规则。是否成立，要看复训更省时、使用是否持续、现场维护成本能否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依据：商业化建议与收费假设，尚无付费客户或签约证据。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我们希望和一家制造或仓储企业做四周并行试点。第一周确认岗位动作和人工基线，第二周让 AI 与人工同时记录，第三周专门测试遮挡、机位变化和不同员工，第四周与负责人复盘。我们看每百人训练工时、计数和错误判断一致性、需要复核的比例，以及复训以后错误有没有减少。双方先约定验收阈值，再决定是否采购和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依据：本次提出的试点计划，尚非客户承诺。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让一线员工每次练习都得到具体指导，让主管看见员工的进步。接下来，我们需要一家试点企业，开放一个训练点，也需要一位岗位专家，和我们一起确认动作与验收标准。四周以后，用现场记录决定产品下一步。谢谢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依据：本次试点合作请求。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建议搭建的独立智能体。独立性需要由工具、输入、输出和失败处理证明。优先完成其中至少十个的实际平台运行，并根据平台规则核验有效性。表格中列出的工具能力有已有代码基础，也有需要补齐的业务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 A 赛道空间方案，平台发布待核验。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六类安全规则可以封装为相应的风险智能体，输出不同的事件证据和处置建议。复核智能体记录人工确认结果，样本管理与模型智能体管理授权数据和评估。尤其要验证失败分支，例如 PPE 权重缺失时报告不可用，不能把没有输出解释为人员安全。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 提供安全工具基础，其余业务适配及平台角色为方案。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项目当前最成熟的是训练 Web 主链。安全模块已有代码和事件记录，但默认 PPE 权重缺失，需要先补齐并联调。企业治理功能主要处在契约设计阶段，平台空间也需要提供发布与调用证据。正式考核前，要把记录与服务端会话绑定，完成鉴权和防重放。我们以这些明确的验收项控制下一阶段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依据：源码核查：web_app.py、src/pipeline_safety/、config/safety/default.json、references/api-mapping.md；本次测试结果。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测算示例，不是试点结果。假设一个训练点每月一千二百人次，每人减少五分钟观察整理，但仍需要一分钟复核，综合人工成本每小时六十元。月度净节省八十小时，对应四千八百元。这个金额还没有扣设备、软件、部署和维护。只有客户实测后仍有足够净收益，年度服务才有定价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依据：本次商业假设与算术示例：1200×(5−1)/60=80 小时，80×60=4800 元/月。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先确认真实模型、相机与机位已准备好。前十秒展示入镜和项目，接下来用一次明显错误动作展示纠错，再完成正确周期和计数，最后展示会话总结。若摄像头或模型不可用，明确说明本次无法判定，切换到可视化页面解释交互。不能把固定姿态演示当成真实推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/coach、/api/session/*、Ghost Coach 演示入口；本次演示设计。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2286e78134d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3bb83779eb4fd8" /><Relationship Type="http://schemas.openxmlformats.org/officeDocument/2006/relationships/slideLayout" Target="/ppt/slideLayouts/slideLayout1.xml" Id="R5d2490fe8ee543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2490fe8ee543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c6aecf35d4e13" /><Relationship Type="http://schemas.openxmlformats.org/officeDocument/2006/relationships/image" Target="/ppt/media/image.jpeg" Id="R857ff83470f24e63" /><Relationship Type="http://schemas.openxmlformats.org/officeDocument/2006/relationships/notesSlide" Target="/ppt/notesSlides/notesSlide1.xml" Id="R9301b665d10845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93015ae714485" /><Relationship Type="http://schemas.openxmlformats.org/officeDocument/2006/relationships/notesSlide" Target="/ppt/notesSlides/notesSlide2.xml" Id="R6739d78ddc0e4a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f9c8931a4cd1" /><Relationship Type="http://schemas.openxmlformats.org/officeDocument/2006/relationships/image" Target="/ppt/media/image2.jpeg" Id="R584304870d334760" /><Relationship Type="http://schemas.openxmlformats.org/officeDocument/2006/relationships/notesSlide" Target="/ppt/notesSlides/notesSlide3.xml" Id="R883259db82da44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d8e178a8f4981" /><Relationship Type="http://schemas.openxmlformats.org/officeDocument/2006/relationships/image" Target="/ppt/media/image3.jpeg" Id="R28a7805b84c9498f" /><Relationship Type="http://schemas.openxmlformats.org/officeDocument/2006/relationships/notesSlide" Target="/ppt/notesSlides/notesSlide4.xml" Id="Raefe438142304f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912e482a94672" /><Relationship Type="http://schemas.openxmlformats.org/officeDocument/2006/relationships/notesSlide" Target="/ppt/notesSlides/notesSlide5.xml" Id="Ra530aca5bd4d4d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1f40bc7c24e0e" /><Relationship Type="http://schemas.openxmlformats.org/officeDocument/2006/relationships/notesSlide" Target="/ppt/notesSlides/notesSlide6.xml" Id="R7eb485b265f243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9802a8fbb4566" /><Relationship Type="http://schemas.openxmlformats.org/officeDocument/2006/relationships/notesSlide" Target="/ppt/notesSlides/notesSlide7.xml" Id="Ra33675b17ca54f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fdc5794c84b89" /><Relationship Type="http://schemas.openxmlformats.org/officeDocument/2006/relationships/notesSlide" Target="/ppt/notesSlides/notesSlide8.xml" Id="R5a2ab818522542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8abdcb5eb4587" /><Relationship Type="http://schemas.openxmlformats.org/officeDocument/2006/relationships/notesSlide" Target="/ppt/notesSlides/notesSlide9.xml" Id="R3d31d11a7d0c48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9732ca36e4c43" /><Relationship Type="http://schemas.openxmlformats.org/officeDocument/2006/relationships/notesSlide" Target="/ppt/notesSlides/notesSlide10.xml" Id="Rc4018ce664a54d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b39aadce64b2b" /><Relationship Type="http://schemas.openxmlformats.org/officeDocument/2006/relationships/notesSlide" Target="/ppt/notesSlides/notesSlide11.xml" Id="Rfae9987a1f0e49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164a862b942a5" /><Relationship Type="http://schemas.openxmlformats.org/officeDocument/2006/relationships/notesSlide" Target="/ppt/notesSlides/notesSlide12.xml" Id="R313d1a5bf25643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0cb4aed4749b4" /><Relationship Type="http://schemas.openxmlformats.org/officeDocument/2006/relationships/notesSlide" Target="/ppt/notesSlides/notesSlide13.xml" Id="Rebf0b12df8574b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78f1291794fbf" /><Relationship Type="http://schemas.openxmlformats.org/officeDocument/2006/relationships/notesSlide" Target="/ppt/notesSlides/notesSlide14.xml" Id="R672736d921074b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74b48bfdd48ba" /><Relationship Type="http://schemas.openxmlformats.org/officeDocument/2006/relationships/notesSlide" Target="/ppt/notesSlides/notesSlide15.xml" Id="R54ce77a3c45d4b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4bac6429342d7" /><Relationship Type="http://schemas.openxmlformats.org/officeDocument/2006/relationships/notesSlide" Target="/ppt/notesSlides/notesSlide16.xml" Id="R21b50308111d4c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2d33a71a645ef" /><Relationship Type="http://schemas.openxmlformats.org/officeDocument/2006/relationships/notesSlide" Target="/ppt/notesSlides/notesSlide17.xml" Id="Rf05cad19efda46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B9325-8FA4-474E-8B96-5F1C9400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5543550" cy="68580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45998-254D-46FD-931E-E8E4EA99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练了么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82397-AAF1-417C-83B3-588DB95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715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让每一次岗位训练，</a:t>
            </a:r>
          </a:p>
          <a:p xmlns:a="http://schemas.openxmlformats.org/drawingml/2006/main">
            <a:pPr>
              <a:def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都有人看动作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43658-3457-468A-8C9F-9AC7427A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面向制造与仓储的</a:t>
            </a:r>
          </a:p>
          <a:p xmlns:a="http://schemas.openxmlformats.org/drawingml/2006/main">
            <a:pPr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AI 动作教练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8C020-B916-476B-A508-03270692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2026 全球智能体大赛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 赛道 · 智能体搭建赛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85FC6-19B1-43AE-B079-E2896FD0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46958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4263B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ff83470f24e63"/>
          <a:stretch xmlns:a="http://schemas.openxmlformats.org/drawingml/2006/main"/>
        </p:blipFill>
        <p:spPr>
          <a:xfrm xmlns:a="http://schemas.openxmlformats.org/drawingml/2006/main">
            <a:off x="7153275" y="1867268"/>
            <a:ext cx="4505325" cy="253291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6DEB2-9792-45F8-BE83-93044302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9587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即时指导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7E10F-A1A0-46AC-825E-91865636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8303C-2718-46F6-8335-22A966A4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38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员工看见怎么改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786A7-8DE8-4606-9AA4-A854CDC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主管知道谁该复训</a:t>
            </a:r>
          </a:p>
        </p:txBody>
      </p:sp>
    </p:spTree>
    <p:extLst>
      <p:ext uri="{BB962C8B-B14F-4D97-AF65-F5344CB8AC3E}">
        <p14:creationId xmlns:p14="http://schemas.microsoft.com/office/powerpoint/2010/main" val="1347537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6A0AE-89D5-4D0D-A7CB-8F6EEB53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培训结束以后，谁来确认动作做对了？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5AB6E-4F61-4AF1-ADDC-6DCECC71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D7895-0F3B-4CD9-BB5C-DC06A1CD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37EAD-16E4-4630-8BB9-65D81DA6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C0A47-2E67-42CB-A4E8-08AA57B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4C906-6AB6-49FC-B90E-B3230379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9D203-1494-4ACE-A99B-B5178AC2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613DB-CBCA-4302-91D9-76F41AF4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需要当场知道怎么改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9EB53-B297-43B4-8674-07B5BCBA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“膝盖往外打开”</a:t>
            </a:r>
          </a:p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比一条笼统评分更有用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9F94-E6E1-4F18-AFA2-5007B764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45F8C-6DDC-4C6C-B18B-42A0A7D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E631A-6056-4BFF-B5DA-9EB64868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班组长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21BF0-7F1B-4DC7-8CE7-F3B2890F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需要逐个看动作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FAA22-FD22-418A-A60A-DF546054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示范以后，仍要反复纠正</a:t>
            </a:r>
          </a:p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人数增加，观察负担增加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2CFB2-FB28-4C72-A1E0-A29B3EEF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8CEAB-93AD-447E-B51A-CB248720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00D03-5DF7-4322-94C4-A4171A8B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115D4-3B9C-4388-9FA0-D0174C3B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需要知道谁该复训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B2DAB-7873-47FD-A8FF-43155A3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参加培训只是起点</a:t>
            </a:r>
          </a:p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动作记录支持后续跟进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CD475-F1A0-4776-B8BA-B1D9325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入职、转岗、复训，都需要持续观察与记录</a:t>
            </a:r>
          </a:p>
        </p:txBody>
      </p:sp>
    </p:spTree>
    <p:extLst>
      <p:ext uri="{BB962C8B-B14F-4D97-AF65-F5344CB8AC3E}">
        <p14:creationId xmlns:p14="http://schemas.microsoft.com/office/powerpoint/2010/main" val="2069520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C16E8-977B-4095-8B01-40388F0D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员工练一遍，主管拿到一份记录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6732E-7730-4B4E-A3F1-2498905A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4CAA5-3869-40E3-93C4-F456F777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541B2-0246-4C5D-9B36-FA3B3F0D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304870d334760"/>
          <a:stretch xmlns:a="http://schemas.openxmlformats.org/drawingml/2006/main"/>
        </p:blipFill>
        <p:spPr>
          <a:xfrm xmlns:a="http://schemas.openxmlformats.org/drawingml/2006/main">
            <a:off x="610801" y="1857375"/>
            <a:ext cx="7522349" cy="422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BDC3F-8E69-42FD-960D-457B4039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288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  选择训练项目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A7508-975A-4206-A199-837DD305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动作和次数由任务约定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A35A4-F528-40CF-B86C-5F4BB8F0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385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  实时指导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710AE-CC92-4E1D-A7E8-BE9489D6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阶段、纠错、完整周期计数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1B55A-D2BB-44A0-A381-6D1E305B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03  留下训练记录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6DEEA-6E94-4B86-B2FE-46DAD884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0200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会话总结和认证记录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1D54D-EA6E-4816-8C71-A8F6A465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既有产品界面演示。企业任务分发与台账回写列入接入计划</a:t>
            </a:r>
          </a:p>
        </p:txBody>
      </p:sp>
    </p:spTree>
    <p:extLst>
      <p:ext uri="{BB962C8B-B14F-4D97-AF65-F5344CB8AC3E}">
        <p14:creationId xmlns:p14="http://schemas.microsoft.com/office/powerpoint/2010/main" val="234916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30A35-1C6C-4F80-8D87-459B21EF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膝盖往外打开，指导就在动作发生时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DC8FA-0D25-47F5-B544-F0E4B3E6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A656-0282-4654-A052-8913C4C4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E495F-CBEF-41AF-9BE2-475856D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7805b84c9498f"/>
          <a:stretch xmlns:a="http://schemas.openxmlformats.org/drawingml/2006/main"/>
        </p:blipFill>
        <p:spPr>
          <a:xfrm xmlns:a="http://schemas.openxmlformats.org/drawingml/2006/main">
            <a:off x="609600" y="1810965"/>
            <a:ext cx="8229600" cy="462672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134F2-EC0F-4AD4-A31A-E4A2A9C8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57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看见具体错误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3004D-3A08-4380-A8AC-061C6B9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膝盖与躯干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直接在画面中提示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0EC20-396B-4C63-A13E-35CE6C58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00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完成完整周期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B039B-5007-4219-AB7B-11198C14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815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规则判断阶段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累计动作次数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823E6-BA0D-449B-99C1-999DBC79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9531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可视化界面演示</a:t>
            </a:r>
          </a:p>
        </p:txBody>
      </p:sp>
    </p:spTree>
    <p:extLst>
      <p:ext uri="{BB962C8B-B14F-4D97-AF65-F5344CB8AC3E}">
        <p14:creationId xmlns:p14="http://schemas.microsoft.com/office/powerpoint/2010/main" val="1849174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B13ED-8A63-4B41-9826-382131A8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训练之外，现场风险也能及时提醒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3E100-E66B-4761-AC7A-92725E03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EB55C-F961-4BA2-9088-F7E3A49E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70EC5-0AD0-428C-9024-1F351BC9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7C94A-81D8-43CE-B4FA-018CDDDF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 类规则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ED362-D29C-461E-9AB3-2844C1A9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543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过度弯腰 / 疑似跌倒</a:t>
            </a:r>
          </a:p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头盔缺失 / 危险区进入</a:t>
            </a:r>
          </a:p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低头静止 / 倒地静止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46F09-D88B-493B-9F8F-AC36A75A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事件记录保留规则、持续时间、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工位和确认状态，可保存截图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943600" y="1924050"/>
          <a:ext xmlns:a="http://schemas.openxmlformats.org/drawingml/2006/main" cx="5638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485900"/>
                <a:gridCol w="148590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规则例子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同类冷却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危险区进入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过度弯腰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头盔缺失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DC350-55B7-43BF-96D2-2553319F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16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持续门控 + 冷却 + 跟踪状态清理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259C7-CFFD-4AE4-9A70-0D1B61D2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安全模块已开发。PPE 权重需补齐，规则参数需按工位验证；静止类信号仅用于提醒核查</a:t>
            </a:r>
          </a:p>
        </p:txBody>
      </p:sp>
    </p:spTree>
    <p:extLst>
      <p:ext uri="{BB962C8B-B14F-4D97-AF65-F5344CB8AC3E}">
        <p14:creationId xmlns:p14="http://schemas.microsoft.com/office/powerpoint/2010/main" val="1272735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4B516-9EEA-4BA0-93BC-E2B673B8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一个智能体空间，完成一项现场任务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86313-5924-49B0-BF9A-5473326F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35D85-E62B-445F-8A0B-59305D79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AF320-9247-4A49-A25B-EDB826A4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4FE84-2A3F-4C22-8504-5E87EB7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4019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979B5-1832-4B33-8324-D1C78DB7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现场训练任务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30698-DBD1-4BDF-B083-08CDD60C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943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一个智能体空间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5A8DF-7281-4D7F-8341-23AFBF42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943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选择标准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完成训练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生成记录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安排复训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9F7A8-1AC8-447C-9037-AFA82CB2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FC100-21EA-4FE7-940F-B1569B35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95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AC8AD-93FF-4632-97A4-5A6DD090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33550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676CA-8A0E-43AD-B8DB-F7631E01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431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  任务与标准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F024D-B4D2-4D1D-86C1-7EECA1A8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任务调度、岗位标准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训练计划、设备检查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E2417-63A2-4960-9C26-7AB0E1A8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3867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7F81A-F923-4AF7-B697-77161E8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05  训练与评估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BAFF2-89CD-4394-A0D7-001C88D0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340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动作教练、考核记录、复训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动作答疑、批次报告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3B8C7-7EB8-4422-AA99-4B024B32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43325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670D1-BBF6-47E1-973A-593DBF94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52875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06  风险提醒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D2F69-9F44-4A74-8176-49E7B30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24375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六类现场规则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事件证据与处置提示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37549-C21B-4E2F-942F-36A69842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43325"/>
            <a:ext cx="3867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DCDC4-981B-4225-9F88-69B6A4E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52875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04  复核与模型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D1355-CA2D-42F9-8228-B0C22C29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24375"/>
            <a:ext cx="340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事件复核、样本管理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模型训练、权重管理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181F9-A4F6-49E4-8B56-27AD8AC7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29275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19 个建议角色，围绕同一任务交付独立结果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5152B-D2C6-467C-B748-C798C335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空间搭建方案。发布与有效性待平台核验，各角色需独立工具、调用样例与失败分支</a:t>
            </a:r>
          </a:p>
        </p:txBody>
      </p:sp>
    </p:spTree>
    <p:extLst>
      <p:ext uri="{BB962C8B-B14F-4D97-AF65-F5344CB8AC3E}">
        <p14:creationId xmlns:p14="http://schemas.microsoft.com/office/powerpoint/2010/main" val="1999831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15946-EF10-41AB-AE5B-2EE24D3D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实时判定留在本地，智能体负责业务协同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61D02-EAF0-47ED-AD64-507973A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1C9E6-1821-4B28-9A35-9CF63E0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60DDE-073C-43AF-A4F5-DBD429BE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67DD9-43FB-4501-9593-65E829B8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18611-999C-457D-8D5B-E4FFAEB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85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智能体协同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7F7D4-B39C-4F61-BEC8-A349C898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14525"/>
            <a:ext cx="820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选择任务     解释结构化结果     安排复核与复训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8098D-9C32-40E2-AED3-A9374A75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本地训练链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A5DE2-C64E-4A67-B8DE-4BDFB352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EE0B3-BA2B-41D6-BB46-C2FB2F1E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17 关键点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F2D6D-6FA7-4BC7-9994-0A53E488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RTMPose / RTMO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D10E1-D6C3-4E71-9DAE-47B6A708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90975"/>
            <a:ext cx="4476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1B7FE-F850-4BAF-9A5C-8C65402A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B3D2D-94DE-454D-BF84-246AFF26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9D095-01D8-4090-BB3D-F4353A7D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 类动作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D012A-93AC-44EB-AB8D-59ED1F4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ST-GCN 动作分类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5AC82-8C0E-489B-A440-EADAD89A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90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5B561-6808-480C-B7EE-39B007E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433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00E29-B6AC-4211-AB7D-A4BB7F1D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B83FF-70DB-435A-8F2B-CF03709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阶段、计数与纠错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19BDC-B581-47A5-BA78-CE85C38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几何规则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21A6D-85F1-4671-83A6-160E8A21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本地安全链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BAD33-5262-4D3E-B933-8D77A24E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95850"/>
            <a:ext cx="433387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21B5D-166A-4800-8209-7FC65B37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86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YOLO Pose 与 PPE 检测接口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B0669-AA7B-45FA-BA58-97B95954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27685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D2350-A8B1-4961-A363-879D8BB0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29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42376-997F-42A0-812B-00816CB1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95850"/>
            <a:ext cx="40100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8486F-485A-4D35-9724-967CBC5C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86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时序规则判定与事件记录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F666A-E81E-4014-A1EE-C6414265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核心逐帧计数不依赖生成式模型；PPE 权重需补齐，目标设备延迟及并发需要实测</a:t>
            </a:r>
          </a:p>
        </p:txBody>
      </p:sp>
    </p:spTree>
    <p:extLst>
      <p:ext uri="{BB962C8B-B14F-4D97-AF65-F5344CB8AC3E}">
        <p14:creationId xmlns:p14="http://schemas.microsoft.com/office/powerpoint/2010/main" val="1815516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5EC830-CEE9-40E2-97AE-AEE8A063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企业自己的动作样本，可以反复使用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4B7E1-39A5-4B37-92CB-F615DD2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71AB3-E341-4B45-B6A7-ACADC89D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03E0E-2475-4F6A-8215-4567596C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5D1DB-48F3-41CD-AB0A-A1C023C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FE5DF-6CF5-413C-8248-6288ACC4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190D7-24BE-457F-B2E2-9ED1069D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94424-AFE3-4188-8AFF-825EF154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本地数据输入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BDC36-A881-46B0-88A1-CEA746D6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ECE70-D35E-41EB-9FD5-A3C42A32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E8D0B-2B12-45E1-A32B-979F31F8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88FF2-0EC9-43DC-B23A-5F14DBD8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07946-849A-4758-BCB0-888D85D8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选择最优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06B2E-535B-4CED-B715-D8B9DD48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E389C-0568-409F-82C4-09CE3964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195A2-BA56-469D-B3C2-CD616FF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27DC0-9D4A-46EE-886C-72DEC760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本地权重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450A4-F0A3-4893-9965-B9EFB579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保存模型文件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A4004-C5C2-46CB-8E96-F165CD55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09D08-3CDC-4911-9596-4B2B8ADD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6303A-7F2A-46A7-9CAC-4238B283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110FB-8B8E-4B62-AF48-54408E28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后续推理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2BB08-4B7C-4AFA-906B-C7BA4334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直接加载使用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5B0AE-6600-4AA7-A230-1F8FAD43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企业接入计划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64528-EAA7-4F58-BD77-94D04A0A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01CCF-D2AB-40A1-8939-6CE9AB08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授权与标准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C9FC8-45C2-4DD9-A5F8-543A846C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企业样本与岗位规则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409A7-81F1-4369-8DE4-B7A8B478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1F0C1-2917-4388-B747-A0BD5058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60538-53E5-48E2-845E-E2E2B8D6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E111BF-4F78-441C-AE88-1753A06E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版本管理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D5B6CB-DB0B-492E-8C97-D089B189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按企业登记模型资产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97BAB6-34C9-4989-AD39-161F56B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183DDC-E23E-4A65-877D-8A773A3E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888D6-883E-423E-8B3E-E9ABACA4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E41F6A-B1EC-4013-ADD7-1EFEC2D0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独立评估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E1C6A2-4ADB-4893-B20E-9B29B120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确认新增样本的效果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847017-15A4-4DE6-8B44-C39B0288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E7AC87-2291-4318-916D-C29E44C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FDBD20-67B3-4462-BFED-969C4BB7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1F4928-6D32-4950-9890-9DD6E30A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升级与回滚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559E2F-C306-40B8-9E3B-6F1FE226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批准后部署新版本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4F8CAD-E709-4FF5-9497-69EA8BD9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企业自动微调、租户隔离、版本注册与回滚仍需实现；长期积累经确认的岗位规则与纠错样本</a:t>
            </a:r>
          </a:p>
        </p:txBody>
      </p:sp>
    </p:spTree>
    <p:extLst>
      <p:ext uri="{BB962C8B-B14F-4D97-AF65-F5344CB8AC3E}">
        <p14:creationId xmlns:p14="http://schemas.microsoft.com/office/powerpoint/2010/main" val="713957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6B279-34A0-4018-8047-18D30DDE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技术底座，可以逐项核验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80A99-F7A6-4A82-B66D-2BE9B238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519AF-BE19-4188-8831-B8BE0968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9D7E8-23ED-4881-82E0-20362AA3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C50D0-A03A-4485-A4CD-D7AEBA9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71875" cy="40671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B3EA8-E0BA-4E35-85B5-C8E8888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783E0-D51E-4348-9615-7BC36CF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项流程测试通过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4710D-461C-47F7-9C9F-7D80EC47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905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页面、契约与几何规则</a:t>
            </a:r>
          </a:p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本次核查已重新执行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8D224-84D1-4D19-ABF0-CDC722BB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A6677-B7E0-438B-BD38-8EFFFE90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47875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622DA-2BAF-42E1-9B7B-20405772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90725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类动作分类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99712-8621-4A82-95E1-7392E70C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 ST-GCN 权重，范围可核对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1F939-1C07-42DB-8775-A201BDE8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004CA-8996-4E1B-B380-83ECE477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2900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51D50-98DE-4987-BC7A-0F52F292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类专项训练规则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7D3A8-440E-4E40-B145-F784AF79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阶段、计数与动作纠错，主演示深蹲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6D7D7-36F7-413C-A66D-5C54DF93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FE4D6-54E2-46A6-8D99-92DD1EE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10125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8B98C-CF09-4729-8089-5EA3000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52975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视觉推理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9A542-258A-4467-8FEC-5122A268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76850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本地模型权重，逐帧推理在本地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DA4E2-254B-4E6A-9559-44C415D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流程测试不代表模型精度。企业现场泛化、误报漏报与设备性能，进入试点单独验收</a:t>
            </a:r>
          </a:p>
        </p:txBody>
      </p:sp>
    </p:spTree>
    <p:extLst>
      <p:ext uri="{BB962C8B-B14F-4D97-AF65-F5344CB8AC3E}">
        <p14:creationId xmlns:p14="http://schemas.microsoft.com/office/powerpoint/2010/main" val="3264203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5CE3F-429D-4ECC-8BB0-BB6B1D3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第一笔收入，来自一个训练点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245E0-FC06-4B4B-8CB4-454968BA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F633A-04BD-4CF5-9D4B-BA8F6DA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66666-53B8-44F3-A725-C76F3D2D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4E507-293E-46C6-8FF7-71ADE0D2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首个购买场景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B2CCB-E894-4B6A-90A4-B6A1549B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810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制造 / 仓储</a:t>
            </a:r>
          </a:p>
          <a:p xmlns:a="http://schemas.openxmlformats.org/drawingml/2006/main">
            <a:pPr>
              <a:def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一个有明确考核需求的训练点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AB27D-A616-443C-B109-9BCD1B0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619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推动：培训负责人或 EHS</a:t>
            </a:r>
          </a:p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使用：班组长与一线员工</a:t>
            </a:r>
          </a:p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部署：IT 参与确认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34DBA-942C-4E58-AD58-779D88B6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327BE-4B91-471A-A5AF-CE2103B4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采购依据：复训效率与持续使用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82F5E-5883-4747-B5FA-0059DDB2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57400"/>
            <a:ext cx="25908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CCDA3-1B4A-4333-94E3-17F715F2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岗位适配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FFB88-0363-4ADF-9510-E3D20DC9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845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岗位规则确认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部署与适配费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18B0D-BA93-4EE0-B9D1-436DC36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00375"/>
            <a:ext cx="2190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906C-0D3C-466F-8428-4BC4FFAD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AEB04-E286-45B9-A8A4-E34BA461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57400"/>
            <a:ext cx="25717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58956-2D96-42EA-9259-2F9E9FAC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训练点服务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74471-EC97-425D-8A59-696FC34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年度服务费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持续复训与支持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9778B-B15D-4D92-98E1-753BA18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43400"/>
            <a:ext cx="5572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EF0EC-E675-4D18-9AD1-EF566CF5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扩展到相邻岗位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F019F-4F30-465F-BF26-54203D50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5334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复用引擎与事件记录，新增经企业确认的规则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现场维护与复核成本纳入毛利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672BB-A2F0-4216-8F9E-CE5C10CD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收费方式为商业假设，尚无付费或签约证据；招聘与转岗评估保留为相邻场景</a:t>
            </a:r>
          </a:p>
        </p:txBody>
      </p:sp>
    </p:spTree>
    <p:extLst>
      <p:ext uri="{BB962C8B-B14F-4D97-AF65-F5344CB8AC3E}">
        <p14:creationId xmlns:p14="http://schemas.microsoft.com/office/powerpoint/2010/main" val="491001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A16368-B3BB-4B07-9589-EABE285F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四周试点，把采购问题逐项回答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3A4AF-611B-4AE6-85C7-1ECE1C3F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26542-E84A-4559-995C-3A10D3F2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80A2F-50CF-45E7-B89E-722D41E2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B5BE9-5331-4532-AF32-D4234870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FC4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64FE3-9B8E-4FE1-B80E-D0082AB1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A378F-506E-43A7-BB83-F0D3897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9376B-BD9D-47C3-BAB7-14E2BCA2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0D0A5-D023-4D2D-98CD-EA1685EB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定标准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5D79A-5327-4F37-8CAD-6966211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确认岗位动作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24AA2-CA3D-4B5D-AD7A-616B481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71C0D-92EA-4DE4-8252-57D1EC12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92FAB-48B7-426B-A2DD-76827A5A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78148-FE56-44AA-9F2E-B2A38238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并行训练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165A5-F45D-4592-B260-02EC805C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AI 与人工同时记录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保留分歧样例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DCCDD-F5DA-4893-AA39-99D91867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EDEE5-0B0B-4BD5-B07F-1E105D0C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9F421-ABF7-4CE1-8462-B45BC42C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E9607-3F47-4F30-8218-E0A55E4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测复杂场景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B4D47-0318-416F-937A-4D63E023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变化机位与遮挡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不同员工参与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82BC4-6FAD-4463-B9C4-54B879D8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78532-E445-4E42-96F6-727566EE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D88D9-6007-41D8-86AE-ECD773D0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CE11B-0AF3-4396-9898-7EC6C23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共同复盘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E304F-BA99-40FC-B6B1-31104C6C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对照验收指标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决定采购与扩展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81385-24B4-4AFA-B862-B1F6E491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34275-BB24-4C3A-AA0A-EC3CA391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53075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验收指标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B1CBE-BAC6-4387-8DC6-34FC89C5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53075"/>
            <a:ext cx="868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工时    判断一致性    复核率    复训后错误率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3E2BD-6C04-488D-BCB3-9BD0006E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试点计划，尚非客户承诺。阈值提前共同约定；安全模块另测每摄像头小时误报与漏报</a:t>
            </a:r>
          </a:p>
        </p:txBody>
      </p:sp>
    </p:spTree>
    <p:extLst>
      <p:ext uri="{BB962C8B-B14F-4D97-AF65-F5344CB8AC3E}">
        <p14:creationId xmlns:p14="http://schemas.microsoft.com/office/powerpoint/2010/main" val="18210876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8D1F0-18B7-4FB4-9741-DBFE790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让一线员工做对动作，让主管看见进步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9ED17-E0B4-43C0-BE3A-9C653BF5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05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55DBB-05BA-496F-B0AA-66BC50CD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3C925-2B4B-4F00-B2E8-DECEA93A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D51E8-14A7-4BDB-8A81-97329552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我们寻找一家试点企业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4BF92-5F6F-41F5-9100-5EC0F03C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CE917-F8C2-4C7D-A501-9BB6158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23B31-38BE-4054-A1B1-95B90E50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一个训练点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987B1-1413-461F-92E6-05963E75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C033D-6661-457D-B648-B9DAD2E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10819-3F2F-4952-8202-92012643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一位岗位专家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223AD-53EA-4AFF-87A7-E137DB0D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CC197-F0BF-41C5-AB27-BC29369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B80EB-59AB-4AC4-943F-1AEB66BC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四周并行验证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FB6BA-EE06-4B40-999B-7905EA6C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让一线员工做对动作，让主管看见进步</a:t>
            </a:r>
          </a:p>
        </p:txBody>
      </p:sp>
    </p:spTree>
    <p:extLst>
      <p:ext uri="{BB962C8B-B14F-4D97-AF65-F5344CB8AC3E}">
        <p14:creationId xmlns:p14="http://schemas.microsoft.com/office/powerpoint/2010/main" val="1991912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95E5D-D00F-4F1E-892E-ED4FB9C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01–10：任务与训练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6664D-CFCA-4B41-BC09-D1372BF9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18D5E-48A3-4A62-8628-A24DA30C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4930C-D89E-4DC3-ACD4-C66A70CC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任务调度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自然语言任务 / 任务适配器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任务拆解、负责人、缺失信息追问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岗位标准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岗位与动作 / 企业标准库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带来源和版本的标准，未知标准转确认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训练计划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人员项目 / 计划工具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训练项目与次数，缺失目标时追问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设备检查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机位与帧 / 质量检测工具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入镜检查和调整建议，不足时阻止开始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动作教练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会话帧 / 本地推理 API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阶段、次数、纠错与总结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 考核记录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 / 记录适配器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可追溯记录，拒绝无依据的次数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 复训安排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错误摘要 / 计划工具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错误对应的复训任务与复测条件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 动作答疑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员工问题 / 标准知识库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有来源的动作说明，超范围转人工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 批次报告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会话集合 / 汇总工具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完成清单、分歧项与需复训人员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弯腰提醒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bend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角度与持续时间，未达门控不告警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8E584-A668-42B1-B133-13C2A389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角色方案尚需平台配置与调用记录。共用底层工具时，各角色仍应交付不同的业务结果</a:t>
            </a:r>
          </a:p>
        </p:txBody>
      </p:sp>
    </p:spTree>
    <p:extLst>
      <p:ext uri="{BB962C8B-B14F-4D97-AF65-F5344CB8AC3E}">
        <p14:creationId xmlns:p14="http://schemas.microsoft.com/office/powerpoint/2010/main" val="16482199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5DB07-6A8D-48D7-BA8A-84E756C6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11–19：安全、复核与模型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2EE88-11AE-4CDB-95BF-3063F6B8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FF3E3-7895-45F2-82FF-81921E56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1A891-C2F9-4C9E-9D5C-F3002767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跌倒提醒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fall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疑似跌倒证据和人员核查提示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头盔检查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PPE 检测 / no_helmet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缺失事件，模型不可用时明确报告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危险区提醒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区域配置 / danger_zone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进入部位、区域和持续时间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低头静止提醒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drowsy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静止事件与核查提示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倒地静止提醒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unconscious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异常姿态事件与紧急核查提示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事件复核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事件与人工意见 / 事件库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确认、撤销或待跟进的处置记录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样本管理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授权样本 / 数据处理工具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授权范围、质量检查与训练划分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模型训练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数据版本 / 训练脚本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 与独立评估报告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权重管理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评估与批准 / 资产注册工具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版本登记、加载与回滚记录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30FB6-270E-4D8C-AFFD-D7A16596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目标为 19 个角色；有效数量以平台验收为准。静止类识别输出行为信号，交由人员核查</a:t>
            </a:r>
          </a:p>
        </p:txBody>
      </p:sp>
    </p:spTree>
    <p:extLst>
      <p:ext uri="{BB962C8B-B14F-4D97-AF65-F5344CB8AC3E}">
        <p14:creationId xmlns:p14="http://schemas.microsoft.com/office/powerpoint/2010/main" val="2118021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142BE-BA2E-450F-93C4-447DFA84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交付状态与下一步验收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2818F-D2DA-44E2-9BF2-11F68ACA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5489A-D8CF-43BB-BC89-780E79B6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实现边界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4704A-BC93-4DB6-AC04-86B57A88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333875"/>
                <a:gridCol w="4400550"/>
              </a:tblGrid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下一步验收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Web 主链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页面、会话、计数、纠错、总结代码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真实摄像头连续演示与稳定性记录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安全模块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姿态检测、6 类规则、事件库与确认接口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 PPE 权重，现场评估误报漏报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模型能力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本地权重、训练脚本、加载代码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按受试者/场地分组的独立测试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平台空间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角色分工方案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10 个有效智能体与协作运行记录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企业治理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字段契约及 API 映射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鉴权、幂等回写、隔离、版本与回滚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正式考核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认证记录接口已有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服务端会话绑定、人工复核与防重放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17DF8-756A-4FE1-98CE-894C63B6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核心推理可本地部署；目标设备吞吐量、现场收益及企业级治理尚不能视为已经验收</a:t>
            </a:r>
          </a:p>
        </p:txBody>
      </p:sp>
    </p:spTree>
    <p:extLst>
      <p:ext uri="{BB962C8B-B14F-4D97-AF65-F5344CB8AC3E}">
        <p14:creationId xmlns:p14="http://schemas.microsoft.com/office/powerpoint/2010/main" val="2780224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3D25C-F000-4157-9A4F-25E64A5D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收费空间，先用客户的工时账来算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947B3-5BFA-4DBE-9BBF-3C60E1AA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81357-87AB-42C1-A06C-90CCEFAE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假设测算，非试点收益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2A9AB-41FA-4F65-AFE5-E7AAEF67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477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可替换输入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示例假设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每月训练量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 人次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每人减少观察与整理时间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分钟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每人新增复核时间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分钟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综合人工成本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元 / 小时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0F0B1-E993-4998-89F3-FF35FAA7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81225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80 小时 /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F8269-94D7-4129-9E7A-AA105B9A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2275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净节省工时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A1F23-9032-4826-9D91-9113CB48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4,800 元 /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B5C3C-64D6-49C9-AB86-B55D98CF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对应人工成本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4FF74-E2BB-4244-AEFB-6B76D6A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未扣设备、部署、软件和维护成本。用客户实测替换全部假设，再决定采购预算与报价</a:t>
            </a:r>
          </a:p>
        </p:txBody>
      </p:sp>
    </p:spTree>
    <p:extLst>
      <p:ext uri="{BB962C8B-B14F-4D97-AF65-F5344CB8AC3E}">
        <p14:creationId xmlns:p14="http://schemas.microsoft.com/office/powerpoint/2010/main" val="8016970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F5376-F568-4E07-A702-D2380520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现场演示：45 秒讲清一次完整动作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4BF64-CA4B-4699-BC49-7B1A0A49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9ED3D-A7C9-4543-A985-8ACF0CA4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演示执行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E4491-1451-47BB-9715-EE66744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381500"/>
                <a:gridCol w="48291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观众看到什么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要证明什么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0–10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选择深蹲项目，全身入镜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真实模型链路与机位已经准备好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10–22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一次动作错误，出现具体提示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系统指出需要调整的关节与姿态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22–35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调整姿势，完成完整动作周期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次数随完整周期增加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35–45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结束会话，展示训练总结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过程可以形成后续复训依据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D36FB-0CD5-4716-8FAB-7E7C5276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故障时：明确说明无法判定，使用标注清楚的界面演示继续讲解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7AB4F-CB70-48A5-84D1-E1D63560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当前 PPT 使用既有界面图片，未嵌入真人演示视频；正式路演前按上述顺序录制</a:t>
            </a:r>
          </a:p>
        </p:txBody>
      </p:sp>
    </p:spTree>
    <p:extLst>
      <p:ext uri="{BB962C8B-B14F-4D97-AF65-F5344CB8AC3E}">
        <p14:creationId xmlns:p14="http://schemas.microsoft.com/office/powerpoint/2010/main" val="465860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2026-09-21T11:30:51.1080000Z</dcterms:created>
  <dcterms:modified xsi:type="dcterms:W3CDTF">2026-09-21T11:30:51.1080000Z</dcterms:modified>
</coreProperties>
</file>