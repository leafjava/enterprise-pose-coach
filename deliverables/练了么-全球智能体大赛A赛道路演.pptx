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369199a904118" /><Relationship Type="http://schemas.openxmlformats.org/officeDocument/2006/relationships/extended-properties" Target="/docProps/app.xml" Id="R0d7ff458063c4062" /><Relationship Type="http://schemas.openxmlformats.org/officeDocument/2006/relationships/officeDocument" Target="/ppt/presentation.xml" Id="R4dbaa53959ee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0c2bd72964db1"/>
  </p:sldMasterIdLst>
  <p:notesMasterIdLst>
    <p:notesMasterId xmlns:r="http://schemas.openxmlformats.org/officeDocument/2006/relationships" r:id="R2ed2e08080db4e4f"/>
  </p:notesMasterIdLst>
  <p:sldIdLst>
    <p:sldId xmlns:r="http://schemas.openxmlformats.org/officeDocument/2006/relationships" id="256" r:id="R02ec57a8e5034925"/>
    <p:sldId xmlns:r="http://schemas.openxmlformats.org/officeDocument/2006/relationships" id="257" r:id="Ra90d5c781e4843cb"/>
    <p:sldId xmlns:r="http://schemas.openxmlformats.org/officeDocument/2006/relationships" id="258" r:id="R72c2ba791f2340c3"/>
    <p:sldId xmlns:r="http://schemas.openxmlformats.org/officeDocument/2006/relationships" id="259" r:id="Ra21e0d83edea49ee"/>
    <p:sldId xmlns:r="http://schemas.openxmlformats.org/officeDocument/2006/relationships" id="260" r:id="R78e617188ff746cd"/>
    <p:sldId xmlns:r="http://schemas.openxmlformats.org/officeDocument/2006/relationships" id="261" r:id="R5d67191e5a65436f"/>
    <p:sldId xmlns:r="http://schemas.openxmlformats.org/officeDocument/2006/relationships" id="262" r:id="Raa6bd94073464f49"/>
    <p:sldId xmlns:r="http://schemas.openxmlformats.org/officeDocument/2006/relationships" id="263" r:id="R7823e986578e4eb5"/>
    <p:sldId xmlns:r="http://schemas.openxmlformats.org/officeDocument/2006/relationships" id="264" r:id="Rc21fef8c13724c65"/>
    <p:sldId xmlns:r="http://schemas.openxmlformats.org/officeDocument/2006/relationships" id="265" r:id="R9843856ac9964001"/>
    <p:sldId xmlns:r="http://schemas.openxmlformats.org/officeDocument/2006/relationships" id="266" r:id="R7851a4b5dd2742e0"/>
    <p:sldId xmlns:r="http://schemas.openxmlformats.org/officeDocument/2006/relationships" id="267" r:id="R7b1d5b95610b41fc"/>
    <p:sldId xmlns:r="http://schemas.openxmlformats.org/officeDocument/2006/relationships" id="268" r:id="R8d1361ad5c2e4243"/>
    <p:sldId xmlns:r="http://schemas.openxmlformats.org/officeDocument/2006/relationships" id="269" r:id="R722b6f106f3247d5"/>
    <p:sldId xmlns:r="http://schemas.openxmlformats.org/officeDocument/2006/relationships" id="270" r:id="R8c350db58680435c"/>
    <p:sldId xmlns:r="http://schemas.openxmlformats.org/officeDocument/2006/relationships" id="271" r:id="Rac0b8b8fb6d744ad"/>
    <p:sldId xmlns:r="http://schemas.openxmlformats.org/officeDocument/2006/relationships" id="272" r:id="R647db95f29f249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f708ce1e3b4d97" /><Relationship Type="http://schemas.openxmlformats.org/officeDocument/2006/relationships/slideMaster" Target="/ppt/slideMasters/slideMaster1.xml" Id="R7380c2bd72964db1" /><Relationship Type="http://schemas.openxmlformats.org/officeDocument/2006/relationships/notesMaster" Target="/ppt/notesMasters/notesMaster1.xml" Id="R2ed2e08080db4e4f" /><Relationship Type="http://schemas.openxmlformats.org/officeDocument/2006/relationships/presProps" Target="/ppt/presProps.xml" Id="R0a214988fe3f43f1" /><Relationship Type="http://schemas.openxmlformats.org/officeDocument/2006/relationships/tableStyles" Target="/ppt/tableStyles.xml" Id="R18e1900e6b1045e6" /><Relationship Type="http://schemas.openxmlformats.org/officeDocument/2006/relationships/slide" Target="/ppt/slides/slide1.xml" Id="R02ec57a8e5034925" /><Relationship Type="http://schemas.openxmlformats.org/officeDocument/2006/relationships/slide" Target="/ppt/slides/slide2.xml" Id="Ra90d5c781e4843cb" /><Relationship Type="http://schemas.openxmlformats.org/officeDocument/2006/relationships/slide" Target="/ppt/slides/slide3.xml" Id="R72c2ba791f2340c3" /><Relationship Type="http://schemas.openxmlformats.org/officeDocument/2006/relationships/slide" Target="/ppt/slides/slide4.xml" Id="Ra21e0d83edea49ee" /><Relationship Type="http://schemas.openxmlformats.org/officeDocument/2006/relationships/slide" Target="/ppt/slides/slide5.xml" Id="R78e617188ff746cd" /><Relationship Type="http://schemas.openxmlformats.org/officeDocument/2006/relationships/slide" Target="/ppt/slides/slide6.xml" Id="R5d67191e5a65436f" /><Relationship Type="http://schemas.openxmlformats.org/officeDocument/2006/relationships/slide" Target="/ppt/slides/slide7.xml" Id="Raa6bd94073464f49" /><Relationship Type="http://schemas.openxmlformats.org/officeDocument/2006/relationships/slide" Target="/ppt/slides/slide8.xml" Id="R7823e986578e4eb5" /><Relationship Type="http://schemas.openxmlformats.org/officeDocument/2006/relationships/slide" Target="/ppt/slides/slide9.xml" Id="Rc21fef8c13724c65" /><Relationship Type="http://schemas.openxmlformats.org/officeDocument/2006/relationships/slide" Target="/ppt/slides/slide10.xml" Id="R9843856ac9964001" /><Relationship Type="http://schemas.openxmlformats.org/officeDocument/2006/relationships/slide" Target="/ppt/slides/slide11.xml" Id="R7851a4b5dd2742e0" /><Relationship Type="http://schemas.openxmlformats.org/officeDocument/2006/relationships/slide" Target="/ppt/slides/slide12.xml" Id="R7b1d5b95610b41fc" /><Relationship Type="http://schemas.openxmlformats.org/officeDocument/2006/relationships/slide" Target="/ppt/slides/slide13.xml" Id="R8d1361ad5c2e4243" /><Relationship Type="http://schemas.openxmlformats.org/officeDocument/2006/relationships/slide" Target="/ppt/slides/slide14.xml" Id="R722b6f106f3247d5" /><Relationship Type="http://schemas.openxmlformats.org/officeDocument/2006/relationships/slide" Target="/ppt/slides/slide15.xml" Id="R8c350db58680435c" /><Relationship Type="http://schemas.openxmlformats.org/officeDocument/2006/relationships/slide" Target="/ppt/slides/slide16.xml" Id="Rac0b8b8fb6d744ad" /><Relationship Type="http://schemas.openxmlformats.org/officeDocument/2006/relationships/slide" Target="/ppt/slides/slide17.xml" Id="R647db95f29f2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47117c440f46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e873281e8f4368" /><Relationship Type="http://schemas.openxmlformats.org/officeDocument/2006/relationships/notesMaster" Target="/ppt/notesMasters/notesMaster1.xml" Id="R380ec615c5e4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9f940ed7634d19" /><Relationship Type="http://schemas.openxmlformats.org/officeDocument/2006/relationships/notesMaster" Target="/ppt/notesMasters/notesMaster1.xml" Id="Rac12b9799bd340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3036c1084f488d" /><Relationship Type="http://schemas.openxmlformats.org/officeDocument/2006/relationships/notesMaster" Target="/ppt/notesMasters/notesMaster1.xml" Id="R6969784653994c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6024c8305b4bfb" /><Relationship Type="http://schemas.openxmlformats.org/officeDocument/2006/relationships/notesMaster" Target="/ppt/notesMasters/notesMaster1.xml" Id="R7f6cd9dca0fa42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ec456cb99c4e37" /><Relationship Type="http://schemas.openxmlformats.org/officeDocument/2006/relationships/notesMaster" Target="/ppt/notesMasters/notesMaster1.xml" Id="R90da7814c70e4e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1f5b2b3a2f4ca6" /><Relationship Type="http://schemas.openxmlformats.org/officeDocument/2006/relationships/notesMaster" Target="/ppt/notesMasters/notesMaster1.xml" Id="R37a587f5435b40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7c5a9a93724cbb" /><Relationship Type="http://schemas.openxmlformats.org/officeDocument/2006/relationships/notesMaster" Target="/ppt/notesMasters/notesMaster1.xml" Id="R2f43e05a698d45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e9f83f81bf4aaa" /><Relationship Type="http://schemas.openxmlformats.org/officeDocument/2006/relationships/notesMaster" Target="/ppt/notesMasters/notesMaster1.xml" Id="Rc9f17a1a337b4a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7ae217ebb74e2a" /><Relationship Type="http://schemas.openxmlformats.org/officeDocument/2006/relationships/notesMaster" Target="/ppt/notesMasters/notesMaster1.xml" Id="Rd77b6b756dba43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014563e5c6419f" /><Relationship Type="http://schemas.openxmlformats.org/officeDocument/2006/relationships/notesMaster" Target="/ppt/notesMasters/notesMaster1.xml" Id="Rbc8ac520737940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bcd9db2471434f" /><Relationship Type="http://schemas.openxmlformats.org/officeDocument/2006/relationships/notesMaster" Target="/ppt/notesMasters/notesMaster1.xml" Id="R74f09fcfbdc643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1de0eaf8144b85" /><Relationship Type="http://schemas.openxmlformats.org/officeDocument/2006/relationships/notesMaster" Target="/ppt/notesMasters/notesMaster1.xml" Id="R90340d41fa9246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fc049f781a47c2" /><Relationship Type="http://schemas.openxmlformats.org/officeDocument/2006/relationships/notesMaster" Target="/ppt/notesMasters/notesMaster1.xml" Id="R9e4e87f5fb294e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80ed1303fb4529" /><Relationship Type="http://schemas.openxmlformats.org/officeDocument/2006/relationships/notesMaster" Target="/ppt/notesMasters/notesMaster1.xml" Id="Re01a27f7bb5e46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2be9daf7ef4a96" /><Relationship Type="http://schemas.openxmlformats.org/officeDocument/2006/relationships/notesMaster" Target="/ppt/notesMasters/notesMaster1.xml" Id="Rd2f9e11f908b4c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7328b9248d4330" /><Relationship Type="http://schemas.openxmlformats.org/officeDocument/2006/relationships/notesMaster" Target="/ppt/notesMasters/notesMaster1.xml" Id="R779a5806623d47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6a0a02372844e8" /><Relationship Type="http://schemas.openxmlformats.org/officeDocument/2006/relationships/notesMaster" Target="/ppt/notesMasters/notesMaster1.xml" Id="R5142638d4b114e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各位评委好，我们是练了么。员工看完培训视频以后，动作到底做对没有？我们希望让每一次岗位训练，都有人看动作。员工用摄像头练习，系统当场给出具体指导，主管看到训练记录和需要复训的地方。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Web 主流程及本次商业定位。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象一位刚入职的仓储员工。视频看过了，要求也听过了，真正开始做动作时，他依然需要有人提醒。班组长要逐个看、反复讲，企业还需要留下培训依据。这个断点会出现在入职、转岗和复训里。我们的切口，就是其中能够按标准观察和记录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依据：场景假设，来自项目 PRD 与用户提供的制造、仓储场景，尚非客户访谈结论。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练了么已经有 Web 实时教练和体能评估页面。员工选择动作项目，用摄像头练习，系统返回阶段、次数和纠错提示，结束后生成会话总结。这里展示的是既有产品的界面演示。企业任务分发与台账回写将在平台接入时补齐。我们的交付单位，是一项有过程、有结果的训练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依据：web_app.py /api/session/start、frame、stop 与 /api/certifications；原版产品截图。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请看这个深蹲示例。界面把需要调整的膝盖和躯干直接标出来，给出具体的动作提示。员工调整姿势，完成一次完整动作周期，次数随之增加。语音提示设有连续触发和冷却机制，避免每帧重复播报。这一页是 Ghost Coach 可视化界面演示，用来说明交互；真实模型效果应由摄像头演示和现场测试证明。答辩时，我们重点演示错误、纠正、计数这三个连续状态。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依据：src/live_coach.py；src/ghost_coach.py；static/ghost-coach.js；原版错误状态截图。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在训练之外，我们增加了独立的现场安全模块。它使用 YOLO 姿态与独立 PPE 检测接口，配置了六类规则。规则持续成立才提醒，同类事件经过冷却再告警，并保存事件和可选截图。持续静止等信号只提示人员核查。代码模块已经开发，当前默认 PPE 权重还需要补齐，现场效果也需要单独验收。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依据：src/pipeline_safety/rules.py、events.py、monitor.py；config/safety/default.json。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要求至少十个有效智能体。我们围绕业务任务设计十九个角色，分别负责任务、训练、安全和复核资产。比如一项新人训练，由任务调度选择标准，教练调用本地引擎，记录智能体整理结果，复训智能体给出下一次任务。每个角色都应有独立输入和可检查的输出。这一页是空间搭建方案，平台发布及有效性需要真实调用记录来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依据：用户提供的 A 赛道通知；本次提出的空间架构方案。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动作反馈需要稳定、可解释的判断。训练链用人体关键点和动作分类，加几何规则完成阶段、计数与纠错。安全链使用另一组检测器和规则。智能体负责选择任务、解释结果和安排后续工作，核心逐帧计数不依赖生成式模型。这样既能给出明确的错误原因，也保留本地部署的选择。具体边缘设备还需要测延迟和并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依据：src/fitness_infer.py、src/live_coach.py、src/rtmpose_tran.py、src/pipeline_safety/detector.py；智能体协同为设计方案。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项目已经具备训练保存最优 checkpoint、以及后续加载本地权重的基础能力。下一阶段，我们要把授权的企业动作样本、岗位标准和复核结果串起来，按企业管理模型版本。新增样本经过独立评估以后再决定是否升级，并保留回滚记录。真正值得积累的是客户确认过的岗位规则和纠错样本。租户隔离、自动版本注册与回滚仍然是接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依据：src/train.py；src/fitness_infer.py；skill-build/enterprise-pose-coach/references/api-mapping.md。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今天可以核验的是本地模型文件、十一类动作分类、六类专项动作规则和运行中的 Web 代码。这次重新执行的二十三项流程测试全部通过。它们验证页面、契约和几何规则。企业现场的模型精度还需要按受试者和工位独立测试，我们没有把旧训练验证数字当成现场准确率。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依据：model/；src/fitness_infer.py；src/live_coach.py；本次 tools/harness.mjs test：23 tests OK；docs/real-evidence.md。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我们的第一笔收入，计划来自一个有明确动作考核需求的企业训练点。培训或 EHS 负责人推动，IT 参与，班组长使用。收费可以从岗位适配和部署开始，再按训练点收年度服务费。扩展到相邻岗位时，复用已有引擎和事件记录，新增客户确认的规则。是否成立，要看复训更省时、使用是否持续、现场维护成本能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依据：商业化建议与收费假设，尚无付费客户或签约证据。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我们希望和一家制造或仓储企业做四周并行试点。第一周确认岗位动作和人工基线，第二周让 AI 与人工同时记录，第三周专门测试遮挡、机位变化和不同员工，第四周与负责人复盘。我们看每百人训练工时、计数和错误判断一致性、需要复核的比例，以及复训以后错误有没有减少。双方先约定验收阈值，再决定是否采购和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依据：本次提出的试点计划，尚非客户承诺。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让一线员工每次练习都得到具体指导，让主管看见员工的进步。接下来，我们需要一家试点企业，开放一个训练点，也需要一位岗位专家，和我们一起确认动作与验收标准。四周以后，用现场记录决定产品下一步。谢谢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依据：本次试点合作请求。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建议搭建的独立智能体。独立性需要由工具、输入、输出和失败处理证明。优先完成其中至少十个的实际平台运行，并根据平台规则核验有效性。表格中列出的工具能力有已有代码基础，也有需要补齐的业务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 A 赛道空间方案，平台发布待核验。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六类安全规则可以封装为相应的风险智能体，输出不同的事件证据和处置建议。复核智能体记录人工确认结果，样本管理与模型智能体管理授权数据和评估。尤其要验证失败分支，例如 PPE 权重缺失时报告不可用，不能把没有输出解释为人员安全。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 提供安全工具基础，其余业务适配及平台角色为方案。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项目当前最成熟的是训练 Web 主链。安全模块已有代码和事件记录，但默认 PPE 权重缺失，需要先补齐并联调。企业治理功能主要处在契约设计阶段，平台空间也需要提供发布与调用证据。正式考核前，要把记录与服务端会话绑定，完成鉴权和防重放。我们以这些明确的验收项控制下一阶段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依据：源码核查：web_app.py、src/pipeline_safety/、config/safety/default.json、references/api-mapping.md；本次测试结果。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测算示例，不是试点结果。假设一个训练点每月一千二百人次，每人减少五分钟观察整理，但仍需要一分钟复核，综合人工成本每小时六十元。月度净节省八十小时，对应四千八百元。这个金额还没有扣设备、软件、部署和维护。只有客户实测后仍有足够净收益，年度服务才有定价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依据：本次商业假设与算术示例：1200×(5−1)/60=80 小时，80×60=4800 元/月。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先确认真实模型、相机与机位已准备好。前十秒展示入镜和项目，接下来用一次明显错误动作展示纠错，再完成正确周期和计数，最后展示会话总结。若摄像头或模型不可用，明确说明本次无法判定，切换到可视化页面解释交互。不能把固定姿态演示当成真实推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/coach、/api/session/*、Ghost Coach 演示入口；本次演示设计。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b619fdd8c43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72062323314cc7" /><Relationship Type="http://schemas.openxmlformats.org/officeDocument/2006/relationships/slideLayout" Target="/ppt/slideLayouts/slideLayout1.xml" Id="R42fb1721976442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b1721976442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fec1421af4e5f" /><Relationship Type="http://schemas.openxmlformats.org/officeDocument/2006/relationships/notesSlide" Target="/ppt/notesSlides/notesSlide1.xml" Id="R01172cc3f5a248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7d7e1633417b" /><Relationship Type="http://schemas.openxmlformats.org/officeDocument/2006/relationships/notesSlide" Target="/ppt/notesSlides/notesSlide2.xml" Id="R901784c5c11541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27a13ce9048fe" /><Relationship Type="http://schemas.openxmlformats.org/officeDocument/2006/relationships/image" Target="/ppt/media/image.jpeg" Id="R1d12ce0aae1b4a2e" /><Relationship Type="http://schemas.openxmlformats.org/officeDocument/2006/relationships/notesSlide" Target="/ppt/notesSlides/notesSlide3.xml" Id="Rc7867012bd884c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47ea72cf742da" /><Relationship Type="http://schemas.openxmlformats.org/officeDocument/2006/relationships/image" Target="/ppt/media/image2.jpeg" Id="R5d4c7d09825a4c76" /><Relationship Type="http://schemas.openxmlformats.org/officeDocument/2006/relationships/notesSlide" Target="/ppt/notesSlides/notesSlide4.xml" Id="Rbabc9d5cba5d45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2cb3777714494" /><Relationship Type="http://schemas.openxmlformats.org/officeDocument/2006/relationships/notesSlide" Target="/ppt/notesSlides/notesSlide5.xml" Id="Rae2f4d3c6f5441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c8c648edc4824" /><Relationship Type="http://schemas.openxmlformats.org/officeDocument/2006/relationships/notesSlide" Target="/ppt/notesSlides/notesSlide6.xml" Id="Rdb7a8139a4424e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b8d50d5aa42cc" /><Relationship Type="http://schemas.openxmlformats.org/officeDocument/2006/relationships/notesSlide" Target="/ppt/notesSlides/notesSlide7.xml" Id="R087502b2e72a42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dab43de814731" /><Relationship Type="http://schemas.openxmlformats.org/officeDocument/2006/relationships/notesSlide" Target="/ppt/notesSlides/notesSlide8.xml" Id="Rcc3cffc3f41f4c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399135c7b483f" /><Relationship Type="http://schemas.openxmlformats.org/officeDocument/2006/relationships/notesSlide" Target="/ppt/notesSlides/notesSlide9.xml" Id="R8782e61ba56e46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cdbc4d7b64e0a" /><Relationship Type="http://schemas.openxmlformats.org/officeDocument/2006/relationships/notesSlide" Target="/ppt/notesSlides/notesSlide10.xml" Id="Ra87177ae714241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a62eb061249f5" /><Relationship Type="http://schemas.openxmlformats.org/officeDocument/2006/relationships/notesSlide" Target="/ppt/notesSlides/notesSlide11.xml" Id="Re10e75c69bf649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0f45b8d044dcc" /><Relationship Type="http://schemas.openxmlformats.org/officeDocument/2006/relationships/notesSlide" Target="/ppt/notesSlides/notesSlide12.xml" Id="Rbb0b075c400447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1f1da891c4a79" /><Relationship Type="http://schemas.openxmlformats.org/officeDocument/2006/relationships/notesSlide" Target="/ppt/notesSlides/notesSlide13.xml" Id="R55c2c30fa2cb42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72bc1fff84ccf" /><Relationship Type="http://schemas.openxmlformats.org/officeDocument/2006/relationships/notesSlide" Target="/ppt/notesSlides/notesSlide14.xml" Id="Rcd2c8677102b42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970a56d5747f8" /><Relationship Type="http://schemas.openxmlformats.org/officeDocument/2006/relationships/notesSlide" Target="/ppt/notesSlides/notesSlide15.xml" Id="R6d011483e00641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b64e497fb417f" /><Relationship Type="http://schemas.openxmlformats.org/officeDocument/2006/relationships/notesSlide" Target="/ppt/notesSlides/notesSlide16.xml" Id="R873ad1e0047a4e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22a3222534d5b" /><Relationship Type="http://schemas.openxmlformats.org/officeDocument/2006/relationships/notesSlide" Target="/ppt/notesSlides/notesSlide17.xml" Id="Re6d190dc6d0b44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BD55A-392D-44ED-A946-92BF2918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CB61C-5158-42EB-8A14-150AEC19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练了么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6177E-B977-4E67-8727-4526F469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66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让每一次岗位训练，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都有人看动作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61142-96DA-43C9-A490-D987DE6F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面向制造与仓储的 AI 动作教练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789ED-38D9-40AD-88EC-04F2BB17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2026 全球智能体大赛   A 赛道 · 智能体搭建赛</a:t>
            </a:r>
          </a:p>
        </p:txBody>
      </p:sp>
    </p:spTree>
    <p:extLst>
      <p:ext uri="{BB962C8B-B14F-4D97-AF65-F5344CB8AC3E}">
        <p14:creationId xmlns:p14="http://schemas.microsoft.com/office/powerpoint/2010/main" val="1267215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C45F9-8155-4590-9D76-F69AF0AC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培训结束以后，谁来确认动作做对了？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1A01B-A693-424C-8CC1-BA0E3386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75167-DD71-4C14-AEA1-0243B867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员工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47C7D-2AFB-44C6-8865-B2C196A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需要当场知道怎么改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43B5F-2218-4FD5-824F-EC8074A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“膝盖往外打开”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比一条笼统的评分更有用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C91FA-B5CD-4B6D-8A7A-33379125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班组长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CBB34-364B-48D0-93A7-8884CCE0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需要逐个看动作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03CDD-22DD-4B26-804D-15E9C3BC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示范以后，还要反复纠正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训练人数增加，观察负担增加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84161-C246-428C-951E-65765319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06593-CD8B-4357-AAF9-8EBE75C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需要知道谁该复训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6C057-3041-4274-9BB2-036D05F3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335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参加过培训只是起点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动作记录才能支持后续跟进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6FB08-6876-4540-9B4B-1784D675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同样的观察与记录任务，反复出现在入职、转岗和在岗训练中</a:t>
            </a:r>
          </a:p>
        </p:txBody>
      </p:sp>
    </p:spTree>
    <p:extLst>
      <p:ext uri="{BB962C8B-B14F-4D97-AF65-F5344CB8AC3E}">
        <p14:creationId xmlns:p14="http://schemas.microsoft.com/office/powerpoint/2010/main" val="1219183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C8341-B3D1-404C-BB41-D61ACCE4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员工练一遍，主管拿到一份记录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D3624-3B11-46CC-A894-55BECBF2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2ce0aae1b4a2e"/>
          <a:stretch xmlns:a="http://schemas.openxmlformats.org/drawingml/2006/main"/>
        </p:blipFill>
        <p:spPr>
          <a:xfrm xmlns:a="http://schemas.openxmlformats.org/drawingml/2006/main">
            <a:off x="610801" y="1857375"/>
            <a:ext cx="7522349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A1294-4FED-44CE-A2DC-F785938C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288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  选择训练项目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3634E-B672-453A-B67A-8105222E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动作和次数由任务约定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28CC1-D341-466D-BF3B-0E0BF851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385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  实时指导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59C90-B234-449D-87D6-871C2F37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阶段、纠错、完整周期计数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FEE37-E3C2-485C-ADDF-66A74CE2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03  留下训练记录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A2381-33BB-415E-A19E-C91F03F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0200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会话总结和认证记录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BF029-6E21-42E1-B107-33079C0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既有产品界面演示。企业任务分发与台账回写列入接入计划</a:t>
            </a:r>
          </a:p>
        </p:txBody>
      </p:sp>
    </p:spTree>
    <p:extLst>
      <p:ext uri="{BB962C8B-B14F-4D97-AF65-F5344CB8AC3E}">
        <p14:creationId xmlns:p14="http://schemas.microsoft.com/office/powerpoint/2010/main" val="1472683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FB6B0-BF84-43C4-BB8B-4EB3731A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膝盖往外打开，指导就在动作发生时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F1BFA-EAED-4498-87F7-F0D25DAB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c7d09825a4c76"/>
          <a:stretch xmlns:a="http://schemas.openxmlformats.org/drawingml/2006/main"/>
        </p:blipFill>
        <p:spPr>
          <a:xfrm xmlns:a="http://schemas.openxmlformats.org/drawingml/2006/main">
            <a:off x="609600" y="1810965"/>
            <a:ext cx="8229600" cy="462672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64F30-36C6-4AC0-95C0-D0CAD23D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57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看见具体错误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42AF5-DC0E-4190-B3E2-F3353057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膝盖与躯干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直接在画面中提示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38141-385F-456D-A7E8-B3E95CBB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00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完成完整周期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3771E-C8BE-4C7B-A939-866E1C95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815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规则判断阶段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累计动作次数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7B6F2-17E0-4092-B9D0-A551A7F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9531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可视化界面演示</a:t>
            </a:r>
          </a:p>
        </p:txBody>
      </p:sp>
    </p:spTree>
    <p:extLst>
      <p:ext uri="{BB962C8B-B14F-4D97-AF65-F5344CB8AC3E}">
        <p14:creationId xmlns:p14="http://schemas.microsoft.com/office/powerpoint/2010/main" val="2031486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DD8A4-A953-4444-A29A-3C7EF7F6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训练之外，现场风险也能及时提醒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2556E-9B4E-4E5E-AC1A-0EEB8EDB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FE8A7-319A-48A1-B2DE-1890451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 类规则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F20DA-0EF4-4F79-8C44-EB4F120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543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过度弯腰 / 疑似跌倒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头盔缺失 / 危险区进入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低头静止 / 倒地静止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22BF-B789-48E6-8D69-68A6935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事件记录保留规则、持续时间、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工位和确认状态，可保存截图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43600" y="1924050"/>
          <a:ext xmlns:a="http://schemas.openxmlformats.org/drawingml/2006/main" cx="5638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485900"/>
                <a:gridCol w="148590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规则例子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同类冷却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危险区进入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过度弯腰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头盔缺失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79584-648D-488F-9F87-AA25A2D5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持续门控 + 冷却 + 跟踪状态清理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FE89B-863A-42AD-8439-62F00AC4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安全模块已开发。PPE 权重需补齐，规则参数需按工位验证；静止类信号仅用于提醒核查</a:t>
            </a:r>
          </a:p>
        </p:txBody>
      </p:sp>
    </p:spTree>
    <p:extLst>
      <p:ext uri="{BB962C8B-B14F-4D97-AF65-F5344CB8AC3E}">
        <p14:creationId xmlns:p14="http://schemas.microsoft.com/office/powerpoint/2010/main" val="19918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A825B-AFF4-4EC2-8A44-C3E527D9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一个智能体空间，完成一项现场任务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9762D-0CD4-4DFC-8712-A9AB6D12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 赛道空间搭建方案 · 发布与有效性待平台核验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E8020-4982-41BD-907D-4E61E409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9C00C-1DA9-4823-BCBB-7BC21BC3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122A0-1404-4F95-A09B-2DDB09E4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任务与标准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487DC-E9D3-4863-9775-A58A01F4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343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任务调度、岗位标准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训练计划、设备检查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49CAA-EF7D-4053-8D66-00133597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74C33-C6AA-4DC0-8FF8-73A8FC37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训练与评估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7DCA5-C16A-4926-9E75-929D6C0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343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动作教练、考核记录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复训、答疑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批次报告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0433A-7384-4918-BAEE-88774B6C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0244C-BF64-4A08-B665-4B5E0E85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2343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风险提醒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81AE4-413D-4606-88D6-BE7928C9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2343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对应六类现场规则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输出事件证据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提供处置提示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6B5AA-D32F-48A8-BA63-B18A28DF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27C7F-7A3A-4E0D-8B1F-9900E57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复核与模型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27046-A789-4EB6-A46B-05E355EE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2114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事件复核、样本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权重管理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35FE4-5457-4278-B543-B4628A89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协作结果：一份训练记录，带出一项有依据的复训任务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F4328-782A-42D9-8F6C-DAD9E81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19 为建议分工数。每个智能体均需独立工具、调用样例及失败分支，不能以角色名称代替有效性</a:t>
            </a:r>
          </a:p>
        </p:txBody>
      </p:sp>
    </p:spTree>
    <p:extLst>
      <p:ext uri="{BB962C8B-B14F-4D97-AF65-F5344CB8AC3E}">
        <p14:creationId xmlns:p14="http://schemas.microsoft.com/office/powerpoint/2010/main" val="1177164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4150E-B6E0-4A98-A059-411F5F6A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实时判定留在本地，智能体负责业务协同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B7CB2-0919-4F29-9B66-9EFD0822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1D659-39AF-480E-A976-9286B888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训练链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9A9C1-3103-45E7-8B10-C5DCA7A3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31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人体 17 关键点</a:t>
            </a:r>
          </a:p>
          <a:p xmlns:a="http://schemas.openxmlformats.org/drawingml/2006/main">
            <a:pPr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RTMPose / RTMO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96AD4-E3E0-4679-9AEC-BDDBCAB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331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11 类动作分类</a:t>
            </a:r>
          </a:p>
          <a:p xmlns:a="http://schemas.openxmlformats.org/drawingml/2006/main">
            <a:pPr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ST-GCN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3735E-8D66-4D03-B0A1-D607319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阶段、计数与纠错</a:t>
            </a:r>
          </a:p>
          <a:p xmlns:a="http://schemas.openxmlformats.org/drawingml/2006/main">
            <a:pPr>
              <a:def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几何规则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9686F-3FC3-4EF8-9E88-3B55C3A8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安全链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2D2B5-AA8A-42FD-9792-AF5D942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YOLO Pose 与 PPE 检测接口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4292C-E44A-4D42-8707-36907BE0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7680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时序规则判定与事件记录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DEFED-61C5-4490-9543-4B59AA9E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智能体读取结构化结果，安排解释、复核与复训；目标边缘设备的延迟及并发需要实测</a:t>
            </a:r>
          </a:p>
        </p:txBody>
      </p:sp>
    </p:spTree>
    <p:extLst>
      <p:ext uri="{BB962C8B-B14F-4D97-AF65-F5344CB8AC3E}">
        <p14:creationId xmlns:p14="http://schemas.microsoft.com/office/powerpoint/2010/main" val="1612478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2F672-ABBB-4264-9F9B-E9CD093A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企业自己的动作样本，可以反复使用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9D724-64F7-4EDB-9C26-62E5A29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3DFBB-BC5F-46F5-ACFC-0ED9E8E9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4B9EA-9862-4810-9BE2-DBA2DC78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4857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  <a:p xmlns:a="http://schemas.openxmlformats.org/drawingml/2006/main">
            <a:pPr>
              <a:defRPr sz="29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保存本地权重</a:t>
            </a:r>
          </a:p>
          <a:p xmlns:a="http://schemas.openxmlformats.org/drawingml/2006/main">
            <a:pPr>
              <a:defRPr sz="29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后续加载推理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E311F-B92D-4D83-98AB-C000814B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企业接入计划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FF53E-6D78-4A1C-8731-34D4B04C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57475"/>
            <a:ext cx="51625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授权样本与岗位标准</a:t>
            </a:r>
          </a:p>
          <a:p xmlns:a="http://schemas.openxmlformats.org/drawingml/2006/main">
            <a:pPr>
              <a:defRPr sz="25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按企业管理模型版本</a:t>
            </a:r>
          </a:p>
          <a:p xmlns:a="http://schemas.openxmlformats.org/drawingml/2006/main">
            <a:pPr>
              <a:defRPr sz="25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独立评估后升级与回滚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26767-4B8C-4791-B0A0-409FBDE9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长期资产：经确认的岗位规则与纠错样本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40BC3-7528-48A2-A876-1704793F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本地训练与权重加载已有代码；企业自动微调、租户隔离、版本注册及回滚仍需实现</a:t>
            </a:r>
          </a:p>
        </p:txBody>
      </p:sp>
    </p:spTree>
    <p:extLst>
      <p:ext uri="{BB962C8B-B14F-4D97-AF65-F5344CB8AC3E}">
        <p14:creationId xmlns:p14="http://schemas.microsoft.com/office/powerpoint/2010/main" val="17665765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B4108-DC49-4A64-8019-409AB942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技术底座，可以逐项核验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48932-2EEB-4AC4-85E5-3BB6EB2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8BDE5-D0EF-46FF-B569-3FDE9B58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BB2E8-6542-44CA-9924-BA6D276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类动作分类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4F4FF-FF4E-4363-9881-C19EAFC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 ST-GCN 权重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分类范围可核对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DAB4F-9C0C-4D8B-B224-905AABB0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764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D4F5E-626D-4143-B0C9-3849757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类专项训练规则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573A9-639E-4F0F-BB39-03069601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阶段、计数与动作纠错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主演示选择深蹲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05404-F5EF-4D04-9A81-6E0A0874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BA8F1-A50B-4DCE-BFED-AA374BD2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项流程测试通过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390B4-8005-4855-B315-39D45B2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页面、契约、几何规则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本次核查已重新执行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5152F-901B-46AA-92DF-648896F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62673-8F14-4675-9833-DA9AE5D2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62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视觉推理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BD0E6-19CE-4F1C-8B7E-5A416A3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2114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本地模型权重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逐帧推理在本地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D3E84-0ED4-4353-A823-F2DD2E47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流程测试不代表模型精度。企业现场泛化、误报漏报与设备性能，进入试点单独验收</a:t>
            </a:r>
          </a:p>
        </p:txBody>
      </p:sp>
    </p:spTree>
    <p:extLst>
      <p:ext uri="{BB962C8B-B14F-4D97-AF65-F5344CB8AC3E}">
        <p14:creationId xmlns:p14="http://schemas.microsoft.com/office/powerpoint/2010/main" val="566824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DEB21-C381-4063-AAA9-C300A88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第一笔收入，来自一个训练点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B7A46-A854-4884-B105-7CA2769F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5643F-997D-41D9-9AE6-50289DE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谁购买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3500C-78B5-439F-BCC6-19B0C33E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制造 / 仓储培训点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56EA2-663B-41C8-A86B-D3802E2A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推动：培训负责人或 EHS</a:t>
            </a:r>
          </a:p>
          <a:p xmlns:a="http://schemas.openxmlformats.org/drawingml/2006/main">
            <a:pPr>
              <a:def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使用：班组长和一线员工</a:t>
            </a:r>
          </a:p>
          <a:p xmlns:a="http://schemas.openxmlformats.org/drawingml/2006/main">
            <a:pPr>
              <a:def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部署：IT 参与确认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86DDB-8716-43FC-9EA4-51E7F7D3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怎么收费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2F13D-A1FD-4FCD-8CCF-22AA2BA7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5162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岗位适配与部署费</a:t>
            </a:r>
          </a:p>
          <a:p xmlns:a="http://schemas.openxmlformats.org/drawingml/2006/main">
            <a:pPr>
              <a:defRPr sz="27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训练点年度服务费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7DB59-2472-4916-AF69-F7FF2A5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5775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验证一个点位后，扩展相邻岗位</a:t>
            </a:r>
          </a:p>
          <a:p xmlns:a="http://schemas.openxmlformats.org/drawingml/2006/main">
            <a:pPr>
              <a:def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现场维护与复核成本纳入毛利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CFA83-097E-427F-B2A8-5A348D6E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收费方式为商业假设。招聘/转岗评估保留为相邻场景，标准须由企业确认</a:t>
            </a:r>
          </a:p>
        </p:txBody>
      </p:sp>
    </p:spTree>
    <p:extLst>
      <p:ext uri="{BB962C8B-B14F-4D97-AF65-F5344CB8AC3E}">
        <p14:creationId xmlns:p14="http://schemas.microsoft.com/office/powerpoint/2010/main" val="1479907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3FC4F-9C18-491B-9AF1-8224E958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四周试点，把采购问题逐项回答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30B4-53B9-44A9-8CE6-F03A421B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C9EFD-4160-4709-905A-052B8A1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3A122-7176-44FF-9A8F-3E01068A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定标准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01B49-C7E1-4D8C-A44F-0453E8B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确认岗位动作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84C50-E793-4070-A989-E8224762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27D9D-84A1-4A67-A4AC-CB920D7C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并行训练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00BFA-2B28-43E8-97F5-25AD3A5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AI 与人工同时记录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保留分歧样例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8B015-1726-4B40-82C4-206B0033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C1ED0-2F3B-495A-96A8-F47CB03F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测复杂场景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18755-DC32-4FB7-A1F2-E40D790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机位与遮挡变化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不同员工参与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统计错误与复核量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9BC45-ECC8-4CF6-9017-9BE31A6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EE470-A648-4B42-827E-974B8F46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共同复盘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FE699-11BA-4C64-B29E-D1B9F88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2114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对照验收指标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决定采购与扩展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7F3E2-8023-454C-A77E-EF2666C4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验收看四项：工时、判断一致性、复核率、复训后错误率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B9BFF-B8C5-4943-85FD-04D14C81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验收阈值在试点开始前由双方共同约定。安全模块另测每摄像头小时误报与漏报</a:t>
            </a:r>
          </a:p>
        </p:txBody>
      </p:sp>
    </p:spTree>
    <p:extLst>
      <p:ext uri="{BB962C8B-B14F-4D97-AF65-F5344CB8AC3E}">
        <p14:creationId xmlns:p14="http://schemas.microsoft.com/office/powerpoint/2010/main" val="1833030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89550-9020-4C4F-831E-3A53280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71102-DCB9-4750-AF5D-0315E53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让一线员工做对动作，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让主管看见进步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F93F5-8BA4-46A2-ADFC-4AAF762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我们寻找一家试点企业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FF85B-AAB2-4926-B176-9213DCB4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53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一个训练点，一位岗位专家，四周并行验证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BF0DA-141F-4314-AD93-4FF7E1E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练了么    AI 动作教练</a:t>
            </a:r>
          </a:p>
        </p:txBody>
      </p:sp>
    </p:spTree>
    <p:extLst>
      <p:ext uri="{BB962C8B-B14F-4D97-AF65-F5344CB8AC3E}">
        <p14:creationId xmlns:p14="http://schemas.microsoft.com/office/powerpoint/2010/main" val="1705786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ED1A5-BC1B-470E-8DEA-C80A47E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01–10：任务与训练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96F03-0E79-45CA-86AA-1756DB38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07239-1845-4546-9128-9472A701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任务调度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自然语言任务 / 任务适配器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任务拆解、负责人、缺失信息追问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岗位标准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岗位与动作 / 企业标准库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带来源和版本的标准，未知标准转确认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训练计划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人员项目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训练项目与次数，缺失目标时追问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设备检查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机位与帧 / 质量检测工具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入镜检查和调整建议，不足时阻止开始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动作教练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会话帧 / 本地推理 API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阶段、次数、纠错与总结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 考核记录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 / 记录适配器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可追溯记录，拒绝无依据的次数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 复训安排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错误摘要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错误对应的复训任务与复测条件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 动作答疑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员工问题 / 标准知识库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有来源的动作说明，超范围转人工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 批次报告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会话集合 / 汇总工具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完成清单、分歧项与需复训人员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弯腰提醒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bend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角度与持续时间，未达门控不告警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24057-99C3-467A-8CC1-9D9506B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角色方案尚需平台配置与调用记录。共用底层工具时，各角色仍应交付不同的业务结果</a:t>
            </a:r>
          </a:p>
        </p:txBody>
      </p:sp>
    </p:spTree>
    <p:extLst>
      <p:ext uri="{BB962C8B-B14F-4D97-AF65-F5344CB8AC3E}">
        <p14:creationId xmlns:p14="http://schemas.microsoft.com/office/powerpoint/2010/main" val="17343782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CED66-3E12-461E-B5CF-9715F532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11–19：安全、复核与模型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DD57B-C679-4F0E-BDD1-D08AA739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A5BC7-B6AF-48CA-99C8-548B7FEF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跌倒提醒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fall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疑似跌倒证据和人员核查提示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头盔检查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PPE 检测 / no_helmet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缺失事件，模型不可用时明确报告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危险区提醒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区域配置 / danger_zone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进入部位、区域和持续时间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低头静止提醒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drowsy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静止事件与核查提示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倒地静止提醒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unconscious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异常姿态事件与紧急核查提示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事件复核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事件与人工意见 / 事件库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确认、撤销或待跟进的处置记录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样本管理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授权样本 / 数据处理工具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授权范围、质量检查与训练划分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模型训练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数据版本 / 训练脚本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与独立评估报告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权重管理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评估与批准 / 资产注册工具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版本登记、加载与回滚记录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9D321-D87A-49F0-A4EE-E1B05DBE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目标为 19 个角色；有效数量以平台验收为准。静止类识别输出行为信号，交由人员核查</a:t>
            </a:r>
          </a:p>
        </p:txBody>
      </p:sp>
    </p:spTree>
    <p:extLst>
      <p:ext uri="{BB962C8B-B14F-4D97-AF65-F5344CB8AC3E}">
        <p14:creationId xmlns:p14="http://schemas.microsoft.com/office/powerpoint/2010/main" val="3056548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63456-D253-4F04-BB82-4759D6DC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交付状态与下一步验收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2CD9B-426D-48CB-8EB3-4F6261F8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实现边界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592C4-AEED-49A1-A868-2A4AC56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333875"/>
                <a:gridCol w="4400550"/>
              </a:tblGrid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下一步验收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Web 主链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页面、会话、计数、纠错、总结代码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真实摄像头连续演示与稳定性记录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安全模块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姿态检测、6 类规则、事件库与确认接口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 PPE 权重，现场评估误报漏报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模型能力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本地权重、训练脚本、加载代码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按受试者/场地分组的独立测试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平台空间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角色分工方案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10 个有效智能体与协作运行记录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企业治理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字段契约及 API 映射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鉴权、幂等回写、隔离、版本与回滚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正式考核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认证记录接口已有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服务端会话绑定、人工复核与防重放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B989C-28A0-40E5-B2B3-C0BA3523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核心推理可本地部署；目标设备吞吐量、现场收益及企业级治理尚不能视为已经验收</a:t>
            </a:r>
          </a:p>
        </p:txBody>
      </p:sp>
    </p:spTree>
    <p:extLst>
      <p:ext uri="{BB962C8B-B14F-4D97-AF65-F5344CB8AC3E}">
        <p14:creationId xmlns:p14="http://schemas.microsoft.com/office/powerpoint/2010/main" val="7143113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985A1-681C-40C8-8EE6-C854A5A9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收费空间，先用客户的工时账来算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D9000-7698-413A-8750-5668AA0C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假设测算，非试点收益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67342-EC03-4CE0-91D2-8352F673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477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可替换输入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示例假设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每月训练量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 人次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每人减少观察与整理时间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每人新增复核时间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分钟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综合人工成本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元 / 小时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999CA-A8A4-43E5-ABBE-E8134BCD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81225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80 小时 / 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F222F-8F2F-4866-AA1B-58E6E7DC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净节省工时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EBA8F-0B9B-49FD-A77B-AD11AE91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4,800 元 /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97606-DFC4-45C6-8902-FBDFB86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对应人工成本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0F914-2FAB-4614-807A-265D684E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未扣设备、部署、软件和维护成本。用客户实测替换全部假设，再决定采购预算与报价</a:t>
            </a:r>
          </a:p>
        </p:txBody>
      </p:sp>
    </p:spTree>
    <p:extLst>
      <p:ext uri="{BB962C8B-B14F-4D97-AF65-F5344CB8AC3E}">
        <p14:creationId xmlns:p14="http://schemas.microsoft.com/office/powerpoint/2010/main" val="13845213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DB84C-47CA-4618-B0D1-089FE664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现场演示：45 秒讲清一次完整动作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F6544-E9C2-4F9C-8AB5-4513BD17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演示执行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CF702-4A42-48E6-A8B2-1341D7E9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381500"/>
                <a:gridCol w="4829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观众看到什么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要证明什么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0–10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选择深蹲项目，全身入镜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真实模型链路与机位已经准备好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10–22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一次动作错误，出现具体提示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系统指出需要调整的关节与姿态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22–35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调整姿势，完成完整动作周期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次数随完整周期增加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35–45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结束会话，展示训练总结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过程可以形成后续复训依据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CC0EE-AE85-480D-9936-84ABBEC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故障时：明确说明无法判定，使用标注清楚的界面演示继续讲解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66B11-A487-4F23-8EC9-CB66525E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当前 PPT 使用既有界面图片，未嵌入真人演示视频；正式路演前按上述顺序录制</a:t>
            </a:r>
          </a:p>
        </p:txBody>
      </p:sp>
    </p:spTree>
    <p:extLst>
      <p:ext uri="{BB962C8B-B14F-4D97-AF65-F5344CB8AC3E}">
        <p14:creationId xmlns:p14="http://schemas.microsoft.com/office/powerpoint/2010/main" val="1879746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2026-09-21T11:21:20.4170000Z</dcterms:created>
  <dcterms:modified xsi:type="dcterms:W3CDTF">2026-09-21T11:21:20.4170000Z</dcterms:modified>
</coreProperties>
</file>