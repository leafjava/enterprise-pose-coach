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a54e6c8c614752" /><Relationship Type="http://schemas.openxmlformats.org/officeDocument/2006/relationships/extended-properties" Target="/docProps/app.xml" Id="R12ef538391af4a85" /><Relationship Type="http://schemas.openxmlformats.org/officeDocument/2006/relationships/officeDocument" Target="/ppt/presentation.xml" Id="R7c4b42a7651047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72b53277784db3"/>
  </p:sldMasterIdLst>
  <p:notesMasterIdLst>
    <p:notesMasterId xmlns:r="http://schemas.openxmlformats.org/officeDocument/2006/relationships" r:id="R45abf6acc0a14760"/>
  </p:notesMasterIdLst>
  <p:sldIdLst>
    <p:sldId xmlns:r="http://schemas.openxmlformats.org/officeDocument/2006/relationships" id="256" r:id="R58cecc3c29484453"/>
    <p:sldId xmlns:r="http://schemas.openxmlformats.org/officeDocument/2006/relationships" id="257" r:id="Ra2b8d38d98ff4054"/>
    <p:sldId xmlns:r="http://schemas.openxmlformats.org/officeDocument/2006/relationships" id="258" r:id="R4ca049b7a5a54bac"/>
    <p:sldId xmlns:r="http://schemas.openxmlformats.org/officeDocument/2006/relationships" id="259" r:id="R3c8a5b5dc5d6486f"/>
    <p:sldId xmlns:r="http://schemas.openxmlformats.org/officeDocument/2006/relationships" id="260" r:id="Rff400f845d554c2e"/>
    <p:sldId xmlns:r="http://schemas.openxmlformats.org/officeDocument/2006/relationships" id="261" r:id="Rbfb97efbc885476a"/>
    <p:sldId xmlns:r="http://schemas.openxmlformats.org/officeDocument/2006/relationships" id="262" r:id="R0a53f668763b4184"/>
    <p:sldId xmlns:r="http://schemas.openxmlformats.org/officeDocument/2006/relationships" id="263" r:id="R9770e48fa5374895"/>
    <p:sldId xmlns:r="http://schemas.openxmlformats.org/officeDocument/2006/relationships" id="264" r:id="Rd4664eb988a84c29"/>
    <p:sldId xmlns:r="http://schemas.openxmlformats.org/officeDocument/2006/relationships" id="265" r:id="R0bb9dc35f7cf4d10"/>
    <p:sldId xmlns:r="http://schemas.openxmlformats.org/officeDocument/2006/relationships" id="266" r:id="R4c04d76b407e495d"/>
    <p:sldId xmlns:r="http://schemas.openxmlformats.org/officeDocument/2006/relationships" id="267" r:id="Ra1f40c482b4b4f33"/>
    <p:sldId xmlns:r="http://schemas.openxmlformats.org/officeDocument/2006/relationships" id="268" r:id="R23a81354cdec413e"/>
    <p:sldId xmlns:r="http://schemas.openxmlformats.org/officeDocument/2006/relationships" id="269" r:id="R9b8c10d961894373"/>
    <p:sldId xmlns:r="http://schemas.openxmlformats.org/officeDocument/2006/relationships" id="270" r:id="R6c6c3660d4684b82"/>
    <p:sldId xmlns:r="http://schemas.openxmlformats.org/officeDocument/2006/relationships" id="271" r:id="R1a7a274a3b324768"/>
    <p:sldId xmlns:r="http://schemas.openxmlformats.org/officeDocument/2006/relationships" id="272" r:id="R56b73f049f144f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0ae3c175b54bae" /><Relationship Type="http://schemas.openxmlformats.org/officeDocument/2006/relationships/slideMaster" Target="/ppt/slideMasters/slideMaster1.xml" Id="R8972b53277784db3" /><Relationship Type="http://schemas.openxmlformats.org/officeDocument/2006/relationships/notesMaster" Target="/ppt/notesMasters/notesMaster1.xml" Id="R45abf6acc0a14760" /><Relationship Type="http://schemas.openxmlformats.org/officeDocument/2006/relationships/presProps" Target="/ppt/presProps.xml" Id="R4e851504aeef4641" /><Relationship Type="http://schemas.openxmlformats.org/officeDocument/2006/relationships/tableStyles" Target="/ppt/tableStyles.xml" Id="R1f3ee5e2e24e440e" /><Relationship Type="http://schemas.openxmlformats.org/officeDocument/2006/relationships/slide" Target="/ppt/slides/slide1.xml" Id="R58cecc3c29484453" /><Relationship Type="http://schemas.openxmlformats.org/officeDocument/2006/relationships/slide" Target="/ppt/slides/slide2.xml" Id="Ra2b8d38d98ff4054" /><Relationship Type="http://schemas.openxmlformats.org/officeDocument/2006/relationships/slide" Target="/ppt/slides/slide3.xml" Id="R4ca049b7a5a54bac" /><Relationship Type="http://schemas.openxmlformats.org/officeDocument/2006/relationships/slide" Target="/ppt/slides/slide4.xml" Id="R3c8a5b5dc5d6486f" /><Relationship Type="http://schemas.openxmlformats.org/officeDocument/2006/relationships/slide" Target="/ppt/slides/slide5.xml" Id="Rff400f845d554c2e" /><Relationship Type="http://schemas.openxmlformats.org/officeDocument/2006/relationships/slide" Target="/ppt/slides/slide6.xml" Id="Rbfb97efbc885476a" /><Relationship Type="http://schemas.openxmlformats.org/officeDocument/2006/relationships/slide" Target="/ppt/slides/slide7.xml" Id="R0a53f668763b4184" /><Relationship Type="http://schemas.openxmlformats.org/officeDocument/2006/relationships/slide" Target="/ppt/slides/slide8.xml" Id="R9770e48fa5374895" /><Relationship Type="http://schemas.openxmlformats.org/officeDocument/2006/relationships/slide" Target="/ppt/slides/slide9.xml" Id="Rd4664eb988a84c29" /><Relationship Type="http://schemas.openxmlformats.org/officeDocument/2006/relationships/slide" Target="/ppt/slides/slide10.xml" Id="R0bb9dc35f7cf4d10" /><Relationship Type="http://schemas.openxmlformats.org/officeDocument/2006/relationships/slide" Target="/ppt/slides/slide11.xml" Id="R4c04d76b407e495d" /><Relationship Type="http://schemas.openxmlformats.org/officeDocument/2006/relationships/slide" Target="/ppt/slides/slide12.xml" Id="Ra1f40c482b4b4f33" /><Relationship Type="http://schemas.openxmlformats.org/officeDocument/2006/relationships/slide" Target="/ppt/slides/slide13.xml" Id="R23a81354cdec413e" /><Relationship Type="http://schemas.openxmlformats.org/officeDocument/2006/relationships/slide" Target="/ppt/slides/slide14.xml" Id="R9b8c10d961894373" /><Relationship Type="http://schemas.openxmlformats.org/officeDocument/2006/relationships/slide" Target="/ppt/slides/slide15.xml" Id="R6c6c3660d4684b82" /><Relationship Type="http://schemas.openxmlformats.org/officeDocument/2006/relationships/slide" Target="/ppt/slides/slide16.xml" Id="R1a7a274a3b324768" /><Relationship Type="http://schemas.openxmlformats.org/officeDocument/2006/relationships/slide" Target="/ppt/slides/slide17.xml" Id="R56b73f049f144f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a440af980e4c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a557701bdc4ee8" /><Relationship Type="http://schemas.openxmlformats.org/officeDocument/2006/relationships/notesMaster" Target="/ppt/notesMasters/notesMaster1.xml" Id="R8f1ce766952745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f1804f7d664bca" /><Relationship Type="http://schemas.openxmlformats.org/officeDocument/2006/relationships/notesMaster" Target="/ppt/notesMasters/notesMaster1.xml" Id="R3d4393d79b1c44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d93012aa5f4125" /><Relationship Type="http://schemas.openxmlformats.org/officeDocument/2006/relationships/notesMaster" Target="/ppt/notesMasters/notesMaster1.xml" Id="Rec9a297d96d342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b84995d6104967" /><Relationship Type="http://schemas.openxmlformats.org/officeDocument/2006/relationships/notesMaster" Target="/ppt/notesMasters/notesMaster1.xml" Id="R3fe8a2112a7644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aef3f74c864067" /><Relationship Type="http://schemas.openxmlformats.org/officeDocument/2006/relationships/notesMaster" Target="/ppt/notesMasters/notesMaster1.xml" Id="Rd23eda62f81a49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5f158666de48f3" /><Relationship Type="http://schemas.openxmlformats.org/officeDocument/2006/relationships/notesMaster" Target="/ppt/notesMasters/notesMaster1.xml" Id="R584142934ea84e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8ef14d1284f5b" /><Relationship Type="http://schemas.openxmlformats.org/officeDocument/2006/relationships/notesMaster" Target="/ppt/notesMasters/notesMaster1.xml" Id="Rf4d8d292ae7a43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1d8e0171d04823" /><Relationship Type="http://schemas.openxmlformats.org/officeDocument/2006/relationships/notesMaster" Target="/ppt/notesMasters/notesMaster1.xml" Id="R59504b3b8e034d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c135bfd5b54a24" /><Relationship Type="http://schemas.openxmlformats.org/officeDocument/2006/relationships/notesMaster" Target="/ppt/notesMasters/notesMaster1.xml" Id="Redb31486642749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aeb9a1058c4ee5" /><Relationship Type="http://schemas.openxmlformats.org/officeDocument/2006/relationships/notesMaster" Target="/ppt/notesMasters/notesMaster1.xml" Id="Rd7a0883b73ca44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1034d162da4101" /><Relationship Type="http://schemas.openxmlformats.org/officeDocument/2006/relationships/notesMaster" Target="/ppt/notesMasters/notesMaster1.xml" Id="R4ff26b2580e64a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0679e1c6ac4c0c" /><Relationship Type="http://schemas.openxmlformats.org/officeDocument/2006/relationships/notesMaster" Target="/ppt/notesMasters/notesMaster1.xml" Id="Rc427c694660248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9fc495d93148ed" /><Relationship Type="http://schemas.openxmlformats.org/officeDocument/2006/relationships/notesMaster" Target="/ppt/notesMasters/notesMaster1.xml" Id="R90aba54f47f448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beaca66f764d18" /><Relationship Type="http://schemas.openxmlformats.org/officeDocument/2006/relationships/notesMaster" Target="/ppt/notesMasters/notesMaster1.xml" Id="R292cf4589fb140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2a3a793042442b" /><Relationship Type="http://schemas.openxmlformats.org/officeDocument/2006/relationships/notesMaster" Target="/ppt/notesMasters/notesMaster1.xml" Id="Rb8a6fd15bb9847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4b61f739134e56" /><Relationship Type="http://schemas.openxmlformats.org/officeDocument/2006/relationships/notesMaster" Target="/ppt/notesMasters/notesMaster1.xml" Id="R05fa156e79ce4e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dad35ddb234ce1" /><Relationship Type="http://schemas.openxmlformats.org/officeDocument/2006/relationships/notesMaster" Target="/ppt/notesMasters/notesMaster1.xml" Id="R4bc750af325e4c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各位评委好，我们是练了么。员工看完培训视频以后，动作到底做对没有？我们希望让每一次岗位训练，都有人看动作。员工用摄像头练习，系统当场给出具体指导，主管看到训练记录和需要复训的地方。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 Web 主流程及本次商业定位。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象一位刚入职的仓储员工。视频看过了，要求也听过了，真正开始做动作时，他依然需要有人提醒。班组长要逐个看、反复讲，企业还需要留下培训依据。这个断点会出现在入职、转岗和复训里。我们的切口，就是其中能够按标准观察和记录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依据：场景假设，来自项目 PRD 与用户提供的制造、仓储场景，尚非客户访谈结论。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练了么已经有 Web 实时教练和体能评估页面。员工选择动作项目，用摄像头练习，系统返回阶段、次数和纠错提示，结束后生成会话总结。这里展示的是既有产品的界面演示。企业任务分发与台账回写将在平台接入时补齐。我们的交付单位，是一项有过程、有结果的训练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依据：web_app.py /api/session/start、frame、stop 与 /api/certifications；原版产品截图。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请看这个深蹲示例。界面把需要调整的膝盖和躯干直接标出来，给出具体的动作提示。员工调整姿势，完成一次完整动作周期，次数随之增加。语音提示设有连续触发和冷却机制，避免每帧重复播报。这一页是 Ghost Coach 可视化界面演示，用来说明交互；真实模型效果应由摄像头演示和现场测试证明。答辩时，我们重点演示错误、纠正、计数这三个连续状态。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依据：src/live_coach.py；src/ghost_coach.py；static/ghost-coach.js；原版错误状态截图。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在训练之外，我们增加了独立的现场安全模块。它使用 YOLO 姿态与独立 PPE 检测接口，配置了六类规则。规则持续成立才提醒，同类事件经过冷却再告警，并保存事件和可选截图。持续静止等信号只提示人员核查。代码模块已经开发，当前默认 PPE 权重还需要补齐，现场效果也需要单独验收。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依据：src/pipeline_safety/rules.py、events.py、monitor.py；config/safety/default.json。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赛道要求至少十个有效智能体。我们围绕业务任务设计十九个角色，分别负责任务、训练、安全和复核资产。比如一项新人训练，由任务调度选择标准，教练调用本地引擎，记录智能体整理结果，复训智能体给出下一次任务。每个角色都应有独立输入和可检查的输出。这一页是空间搭建方案，平台发布及有效性需要真实调用记录来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依据：用户提供的 A 赛道通知；本次提出的空间架构方案。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动作反馈需要稳定、可解释的判断。训练链用人体关键点和动作分类，加几何规则完成阶段、计数与纠错。安全链使用另一组检测器和规则。智能体负责选择任务、解释结果和安排后续工作，核心逐帧计数不依赖生成式模型。这样既能给出明确的错误原因，也保留本地部署的选择。具体边缘设备还需要测延迟和并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依据：src/fitness_infer.py、src/live_coach.py、src/rtmpose_tran.py、src/pipeline_safety/detector.py；智能体协同为设计方案。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项目已经具备训练保存最优 checkpoint、以及后续加载本地权重的基础能力。下一阶段，我们要把授权的企业动作样本、岗位标准和复核结果串起来，按企业管理模型版本。新增样本经过独立评估以后再决定是否升级，并保留回滚记录。真正值得积累的是客户确认过的岗位规则和纠错样本。租户隔离、自动版本注册与回滚仍然是接入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依据：src/train.py；src/fitness_infer.py；skill-build/enterprise-pose-coach/references/api-mapping.md。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今天可以核验的是本地模型文件、十一类动作分类、六类专项动作规则和运行中的 Web 代码。这次重新执行的二十三项流程测试全部通过。它们验证页面、契约和几何规则。企业现场的模型精度还需要按受试者和工位独立测试，我们没有把旧训练验证数字当成现场准确率。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依据：model/；src/fitness_infer.py；src/live_coach.py；本次 tools/harness.mjs test：23 tests OK；docs/real-evidence.md。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我们的第一笔收入，计划来自一个有明确动作考核需求的企业训练点。培训或 EHS 负责人推动，IT 参与，班组长使用。收费可以从岗位适配和部署开始，再按训练点收年度服务费。扩展到相邻岗位时，复用已有引擎和事件记录，新增客户确认的规则。是否成立，要看复训更省时、使用是否持续、现场维护成本能否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依据：商业化建议与收费假设，尚无付费客户或签约证据。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我们希望和一家制造或仓储企业做四周并行试点。第一周确认岗位动作和人工基线，第二周让 AI 与人工同时记录，第三周专门测试遮挡、机位变化和不同员工，第四周与负责人复盘。我们看每百人训练工时、计数和错误判断一致性、需要复核的比例，以及复训以后错误有没有减少。双方先约定验收阈值，再决定是否采购和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依据：本次提出的试点计划，尚非客户承诺。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让一线员工每次练习都得到具体指导，让主管看见员工的进步。接下来，我们需要一家试点企业，开放一个训练点，也需要一位岗位专家，和我们一起确认动作与验收标准。四周以后，用现场记录决定产品下一步。谢谢各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依据：本次试点合作请求。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建议搭建的独立智能体。独立性需要由工具、输入、输出和失败处理证明。优先完成其中至少十个的实际平台运行，并根据平台规则核验有效性。表格中列出的工具能力有已有代码基础，也有需要补齐的业务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 A 赛道空间方案，平台发布待核验。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六类安全规则可以封装为相应的风险智能体，输出不同的事件证据和处置建议。复核智能体记录人工确认结果，样本管理与模型智能体管理授权数据和评估。尤其要验证失败分支，例如 PPE 权重缺失时报告不可用，不能把没有输出解释为人员安全。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依据：src/pipeline_safety/ 提供安全工具基础，其余业务适配及平台角色为方案。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项目当前最成熟的是训练 Web 主链。安全模块已有代码和事件记录，但默认 PPE 权重缺失，需要先补齐并联调。企业治理功能主要处在契约设计阶段，平台空间也需要提供发布与调用证据。正式考核前，要把记录与服务端会话绑定，完成鉴权和防重放。我们以这些明确的验收项控制下一阶段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依据：源码核查：web_app.py、src/pipeline_safety/、config/safety/default.json、references/api-mapping.md；本次测试结果。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测算示例，不是试点结果。假设一个训练点每月一千二百人次，每人减少五分钟观察整理，但仍需要一分钟复核，综合人工成本每小时六十元。月度净节省八十小时，对应四千八百元。这个金额还没有扣设备、软件、部署和维护。只有客户实测后仍有足够净收益，年度服务才有定价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依据：本次商业假设与算术示例：1200×(5−1)/60=80 小时，80×60=4800 元/月。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演示先确认真实模型、相机与机位已准备好。前十秒展示入镜和项目，接下来用一次明显错误动作展示纠错，再完成正确周期和计数，最后展示会话总结。若摄像头或模型不可用，明确说明本次无法判定，切换到可视化页面解释交互。不能把固定姿态演示当成真实推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 /coach、/api/session/*、Ghost Coach 演示入口；本次演示设计。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f528fdf6545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76546ab8c54346" /><Relationship Type="http://schemas.openxmlformats.org/officeDocument/2006/relationships/slideLayout" Target="/ppt/slideLayouts/slideLayout1.xml" Id="R728ec2fba4de44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8ec2fba4de44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f7b2ebfc74a02" /><Relationship Type="http://schemas.openxmlformats.org/officeDocument/2006/relationships/image" Target="/ppt/media/image.jpeg" Id="R78023bd6ed7747b0" /><Relationship Type="http://schemas.openxmlformats.org/officeDocument/2006/relationships/notesSlide" Target="/ppt/notesSlides/notesSlide1.xml" Id="R30076ff06c8641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4634013a74107" /><Relationship Type="http://schemas.openxmlformats.org/officeDocument/2006/relationships/notesSlide" Target="/ppt/notesSlides/notesSlide2.xml" Id="R35cbe5f060384f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ade4ccddf45cf" /><Relationship Type="http://schemas.openxmlformats.org/officeDocument/2006/relationships/image" Target="/ppt/media/image2.jpeg" Id="Rcfeecca92d594af1" /><Relationship Type="http://schemas.openxmlformats.org/officeDocument/2006/relationships/notesSlide" Target="/ppt/notesSlides/notesSlide3.xml" Id="R67986a312d4b4f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a66f0e724418e" /><Relationship Type="http://schemas.openxmlformats.org/officeDocument/2006/relationships/image" Target="/ppt/media/image3.jpeg" Id="Re9641869ab8e46dd" /><Relationship Type="http://schemas.openxmlformats.org/officeDocument/2006/relationships/notesSlide" Target="/ppt/notesSlides/notesSlide4.xml" Id="R70a8b6161d3d45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6e220267b4abc" /><Relationship Type="http://schemas.openxmlformats.org/officeDocument/2006/relationships/notesSlide" Target="/ppt/notesSlides/notesSlide5.xml" Id="Rf3f1411430ee46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fb3a1f2ae48d7" /><Relationship Type="http://schemas.openxmlformats.org/officeDocument/2006/relationships/notesSlide" Target="/ppt/notesSlides/notesSlide6.xml" Id="R4b86120fe27240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44907672c4a2e" /><Relationship Type="http://schemas.openxmlformats.org/officeDocument/2006/relationships/notesSlide" Target="/ppt/notesSlides/notesSlide7.xml" Id="R41ddb2d42cea4e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07d92af504103" /><Relationship Type="http://schemas.openxmlformats.org/officeDocument/2006/relationships/notesSlide" Target="/ppt/notesSlides/notesSlide8.xml" Id="R1a5965c8062949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6edc809ad4038" /><Relationship Type="http://schemas.openxmlformats.org/officeDocument/2006/relationships/notesSlide" Target="/ppt/notesSlides/notesSlide9.xml" Id="Ra80c7d63809349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1b37c4b0b44bb" /><Relationship Type="http://schemas.openxmlformats.org/officeDocument/2006/relationships/notesSlide" Target="/ppt/notesSlides/notesSlide10.xml" Id="Ra084be6ef5bb4b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0b51dd0024fab" /><Relationship Type="http://schemas.openxmlformats.org/officeDocument/2006/relationships/notesSlide" Target="/ppt/notesSlides/notesSlide11.xml" Id="R0171bc5b69e647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c41d1d1c043a7" /><Relationship Type="http://schemas.openxmlformats.org/officeDocument/2006/relationships/notesSlide" Target="/ppt/notesSlides/notesSlide12.xml" Id="R8b43476e545f4e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af2a8363f4258" /><Relationship Type="http://schemas.openxmlformats.org/officeDocument/2006/relationships/notesSlide" Target="/ppt/notesSlides/notesSlide13.xml" Id="Rded4887a355a4b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342901fba4f7b" /><Relationship Type="http://schemas.openxmlformats.org/officeDocument/2006/relationships/notesSlide" Target="/ppt/notesSlides/notesSlide14.xml" Id="Raac28cd526f549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a3a7942704adf" /><Relationship Type="http://schemas.openxmlformats.org/officeDocument/2006/relationships/notesSlide" Target="/ppt/notesSlides/notesSlide15.xml" Id="R0dd3a683e8e846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13c8a6f854e31" /><Relationship Type="http://schemas.openxmlformats.org/officeDocument/2006/relationships/notesSlide" Target="/ppt/notesSlides/notesSlide16.xml" Id="R681b5dd8cbec4f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47e1bdbee49b1" /><Relationship Type="http://schemas.openxmlformats.org/officeDocument/2006/relationships/notesSlide" Target="/ppt/notesSlides/notesSlide17.xml" Id="R6d23c495698641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4439F-9C28-4851-9048-38DEAB27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5543550" cy="68580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4BC1C-A0C7-4E2D-A647-88719CB4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练了么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C5873-E063-42F5-A466-D3493FE0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715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让每一次岗位训练，</a:t>
            </a:r>
          </a:p>
          <a:p xmlns:a="http://schemas.openxmlformats.org/drawingml/2006/main">
            <a:pPr>
              <a:def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都有人看动作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462B2-1AC2-40D0-956A-08ABE380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面向制造与仓储的</a:t>
            </a:r>
          </a:p>
          <a:p xmlns:a="http://schemas.openxmlformats.org/drawingml/2006/main">
            <a:pPr>
              <a:def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AI 动作教练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54FE5-B4F8-46BA-A189-A0CA97E7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2026 全球智能体大赛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A 赛道 · 智能体搭建赛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54243-719E-436A-8425-7086C575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57350"/>
            <a:ext cx="46958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4263B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23bd6ed7747b0"/>
          <a:stretch xmlns:a="http://schemas.openxmlformats.org/drawingml/2006/main"/>
        </p:blipFill>
        <p:spPr>
          <a:xfrm xmlns:a="http://schemas.openxmlformats.org/drawingml/2006/main">
            <a:off x="7153275" y="1867268"/>
            <a:ext cx="4505325" cy="253291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0B545-614E-42A2-8F7F-9E01D27B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9587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即时指导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ABC3E-20D4-469D-B127-B81AAB78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9587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0118B-CFF5-4089-A10D-9F101398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38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员工看见怎么改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68B3F-87B2-4B4E-9BF0-85782F2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主管知道谁该复训</a:t>
            </a:r>
          </a:p>
        </p:txBody>
      </p:sp>
    </p:spTree>
    <p:extLst>
      <p:ext uri="{BB962C8B-B14F-4D97-AF65-F5344CB8AC3E}">
        <p14:creationId xmlns:p14="http://schemas.microsoft.com/office/powerpoint/2010/main" val="5751468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B26AF-87A7-4947-8364-B588517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培训结束以后，谁来确认动作做对了？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126D3-E2D0-44AF-BEAA-B8B751F1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EEFA1-AE1C-46BC-B412-F41ED879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24EE9-232A-4341-92F4-A5F39592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4916A-9508-454F-8D17-3E6FA43D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8F8AC-087D-4742-99C2-FBE375AE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F83F3-0E18-4D13-8123-4C6503AF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员工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59144-5525-4069-A075-CADF9054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需要当场知道怎么改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68594-0631-488F-890C-1976895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“膝盖往外打开”</a:t>
            </a:r>
          </a:p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比一条笼统评分更有用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16DA5-6A10-4E53-8121-2D4BEA4A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21222-F45E-4454-8E13-B486C4C7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6B397-9CB8-4D1A-ADF9-AE7E768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班组长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587F1-F7F4-4257-9EF0-05EDF707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需要逐个看动作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16C44-3EB4-40AF-941F-99B76182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示范以后，仍要反复纠正</a:t>
            </a:r>
          </a:p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人数增加，观察负担增加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32811-9B79-4330-B916-129E00A1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36140-7EE8-4213-AE7C-A5E0D0E4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7B016-EDCC-4867-A017-1A7E67C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D7CEF-3AA5-4CC3-BA55-40626C1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需要知道谁该复训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3CF95-07A7-4733-B50D-BECAE33F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参加培训只是起点</a:t>
            </a:r>
          </a:p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动作记录支持后续跟进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E5D0E-4DDC-433E-82E4-33DB478C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入职、转岗、复训，都需要持续观察与记录</a:t>
            </a:r>
          </a:p>
        </p:txBody>
      </p:sp>
    </p:spTree>
    <p:extLst>
      <p:ext uri="{BB962C8B-B14F-4D97-AF65-F5344CB8AC3E}">
        <p14:creationId xmlns:p14="http://schemas.microsoft.com/office/powerpoint/2010/main" val="1354968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67837-64E0-4367-BDE1-32CE6677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员工练一遍，主管拿到一份记录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B5C8D-BEFB-4A17-8E4F-7728932F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F3E5B-1361-4E14-B2FE-824956C6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22EAF-75F1-490B-9321-1502FA0A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ecca92d594af1"/>
          <a:stretch xmlns:a="http://schemas.openxmlformats.org/drawingml/2006/main"/>
        </p:blipFill>
        <p:spPr>
          <a:xfrm xmlns:a="http://schemas.openxmlformats.org/drawingml/2006/main">
            <a:off x="610801" y="1857375"/>
            <a:ext cx="7522349" cy="422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08807-2224-4CD4-BAF4-CBD0887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288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  选择训练项目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C9ABC-7214-4F75-B58F-3DF7EDB4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动作和次数由任务约定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C988A-FD4D-4DC8-A3FC-4197B6E0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385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  实时指导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38563-77E9-46D3-AA77-324B841B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阶段、纠错、完整周期计数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AAB07-E3BD-48A4-9D6A-5FBCECBE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2917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03  留下训练记录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C735B-F00A-47CF-9A6F-55199788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10200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会话总结和认证记录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BDB67-0A63-4D1E-8CA6-8F19F1FD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既有产品界面演示。企业任务分发与台账回写列入接入计划</a:t>
            </a:r>
          </a:p>
        </p:txBody>
      </p:sp>
    </p:spTree>
    <p:extLst>
      <p:ext uri="{BB962C8B-B14F-4D97-AF65-F5344CB8AC3E}">
        <p14:creationId xmlns:p14="http://schemas.microsoft.com/office/powerpoint/2010/main" val="1032477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80409-B498-48DD-97FC-8155B609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膝盖往外打开，指导就在动作发生时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F492B-4608-45C9-96CC-3727056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7DFB9-F9D6-4E1E-9C5E-C6D7F06D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D873F-2DE9-44F2-BF0E-0529BDBC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41869ab8e46dd"/>
          <a:stretch xmlns:a="http://schemas.openxmlformats.org/drawingml/2006/main"/>
        </p:blipFill>
        <p:spPr>
          <a:xfrm xmlns:a="http://schemas.openxmlformats.org/drawingml/2006/main">
            <a:off x="609600" y="1810965"/>
            <a:ext cx="8229600" cy="462672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69909-05D8-4D31-A4D8-846EBBF6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574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看见具体错误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FDA1D-2D28-4E0C-9972-6085AD13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膝盖与躯干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直接在画面中提示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230D5-0E1D-4F1F-A4B3-7D8D9372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00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完成完整周期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AD0A3-FE78-421B-9F93-95844790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815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规则判断阶段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累计动作次数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38799-AFEA-44E8-9D3E-B3169F75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9531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可视化界面演示</a:t>
            </a:r>
          </a:p>
        </p:txBody>
      </p:sp>
    </p:spTree>
    <p:extLst>
      <p:ext uri="{BB962C8B-B14F-4D97-AF65-F5344CB8AC3E}">
        <p14:creationId xmlns:p14="http://schemas.microsoft.com/office/powerpoint/2010/main" val="1993291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E870B-C597-44E1-BB84-2470EC1A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训练之外，现场风险也能及时提醒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E7291-10D7-472F-89E6-74F4768D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191FB-C0A0-4152-907B-83558620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33A64-1677-4B9B-AE95-94775A5B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ED17C-30F3-46BB-82D6-5B1963B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 类规则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7AAA7-8F93-4243-A5A5-34B0A74F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543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过度弯腰 / 疑似跌倒</a:t>
            </a:r>
          </a:p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头盔缺失 / 危险区进入</a:t>
            </a:r>
          </a:p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低头静止 / 倒地静止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7D35F-12F9-412B-AC2E-DA0AD580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事件记录保留规则、持续时间、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工位和确认状态，可保存截图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943600" y="1924050"/>
          <a:ext xmlns:a="http://schemas.openxmlformats.org/drawingml/2006/main" cx="5638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485900"/>
                <a:gridCol w="1485900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规则例子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同类冷却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危险区进入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过度弯腰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头盔缺失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3C75D-E481-4F62-8EA1-4A693CE1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816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持续门控 + 冷却 + 跟踪状态清理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4C22-330C-4133-B1B5-E9E7D05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安全模块已开发。PPE 权重需补齐，规则参数需按工位验证；静止类信号仅用于提醒核查</a:t>
            </a:r>
          </a:p>
        </p:txBody>
      </p:sp>
    </p:spTree>
    <p:extLst>
      <p:ext uri="{BB962C8B-B14F-4D97-AF65-F5344CB8AC3E}">
        <p14:creationId xmlns:p14="http://schemas.microsoft.com/office/powerpoint/2010/main" val="319183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2BA83-4F1F-4806-BF66-652B7438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一个智能体空间，完成一项现场任务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DFDC2-3E4C-49BF-B9D5-3A728928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C8FF0-5485-4C85-9B5D-3059D853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41429-1FBC-471B-BAED-CDDD09C4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7E534-BF38-4AA6-B7FF-05A6E9E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4019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17ADD-924F-414D-8CAC-C68E1F79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C7743-8DE9-4F72-9F21-FFE52EAC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943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一个智能体空间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EE7A1-5E82-4DBA-A3E0-7CB6035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943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选择标准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完成训练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生成记录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安排复训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DE8B9-C356-47B6-B679-4ECFB6F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F72B3-B67C-44DA-B5FB-0BF95B0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95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53015-4B80-44B9-B434-0C9E05D4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33550"/>
            <a:ext cx="3714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8F0AF-9903-41B8-8A4B-56B28E56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431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4 个  任务与标准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A36F1-2001-43BD-9D39-805AB9EA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任务调度、岗位标准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训练计划、设备检查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20607-30EB-4468-8A0A-FD8C8D10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3867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400D4-DCA7-40B3-935D-AD44B3E4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5 个  训练与评估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9C979-60E1-4B8F-A8B6-435299E3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340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动作教练、考核记录、复训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动作答疑、批次报告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EDAF9-E248-43D8-A09D-02C836B5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43325"/>
            <a:ext cx="3714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4AE99-CADA-4601-A5A5-053E2924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52875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6 个  风险提醒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B0F72-AAFA-4632-BA02-F46B26C9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24375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六类现场规则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事件证据与处置提示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CECE0-5FF8-4138-9C67-6952EDC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43325"/>
            <a:ext cx="3867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0D3D6-BE99-4D22-8792-D987D96B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52875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4 个  复核与模型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817D7-96D5-4099-86B1-F59B42F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24375"/>
            <a:ext cx="340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事件复核、样本管理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模型训练、权重管理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E5E3D-FBA3-4C5A-A833-EADEF46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29275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19 个建议角色，围绕同一任务交付独立结果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B75BB0-0641-45AC-BBA4-DF9E09CE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空间搭建方案。发布与有效性待平台核验，各角色需独立工具、调用样例与失败分支</a:t>
            </a:r>
          </a:p>
        </p:txBody>
      </p:sp>
    </p:spTree>
    <p:extLst>
      <p:ext uri="{BB962C8B-B14F-4D97-AF65-F5344CB8AC3E}">
        <p14:creationId xmlns:p14="http://schemas.microsoft.com/office/powerpoint/2010/main" val="107956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C8705-B59A-40AF-8D8F-D69310AD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实时判定留在本地，智能体负责业务协同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27936-ACB4-4860-8D74-2EB8BE54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E9AD1-8437-4D5A-997B-30096E4C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5775D-DE0C-495F-BFC5-3F94EBE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4F4DA-4FD7-437F-8AE3-6E77B883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A55AB-F27C-4D1B-87A4-69B172C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85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智能体协同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23911-61DB-465B-892E-F117AB3B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14525"/>
            <a:ext cx="8201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选择任务     解释结构化结果     安排复核与复训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C0489-5B7E-4CF4-90A1-67C83A3D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本地训练链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6C805-5D6C-4C56-BDE9-CEFD788D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2C7EF-32DD-42FF-A771-D26BE0F2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17 关键点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96401-9F38-441A-853D-20FD485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RTMPose / RTMO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A2226-4242-40C8-A74A-E0C0AD6B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90975"/>
            <a:ext cx="4476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18F27-9DEC-4BE2-8E41-D5DC9E9B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07BE1-32A7-4674-8C37-5696029F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97D24-FF69-4F66-B57C-58117281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11 类动作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17007-9143-4DDC-A38A-373BBF1C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ST-GCN 动作分类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15324-667F-4932-88AE-078F5378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90975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043FD-4FDE-4808-978E-E8AE74C3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433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ED042-299E-4C90-BB88-51723FE8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70359-EABB-404C-BFA8-5B1EC7DF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阶段、计数与纠错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83CD3-444E-4998-B024-337C5036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几何规则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B6018-C988-4F73-BA8A-FC655C09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本地安全链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1BDE1-E071-4596-B124-FD0CCB8B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95850"/>
            <a:ext cx="433387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BC37B-6B2E-44A9-8548-AE18A394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86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YOLO Pose 与 PPE 检测接口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CD8647-DA82-4631-AD99-A1B0C7A7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27685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8E8ED-F186-4A39-844F-ABDD1CF7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29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9E021-2D91-44E7-9FD4-42B57C97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95850"/>
            <a:ext cx="40100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028283-E1C0-4BF1-8BBF-CC795A87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86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时序规则判定与事件记录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FCF9D-693B-4901-A379-CCCFD75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核心逐帧计数不依赖生成式模型；PPE 权重需补齐，目标设备延迟及并发需要实测</a:t>
            </a:r>
          </a:p>
        </p:txBody>
      </p:sp>
    </p:spTree>
    <p:extLst>
      <p:ext uri="{BB962C8B-B14F-4D97-AF65-F5344CB8AC3E}">
        <p14:creationId xmlns:p14="http://schemas.microsoft.com/office/powerpoint/2010/main" val="552568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C9D449-C0AC-4F32-83C8-BA47558E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企业自己的动作样本，可以反复使用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1D7D7-FABC-4AEB-912F-BFA82331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64FA0-BC3B-4BAF-BF5B-0136730E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4303C-C26D-448D-BA72-64F5B809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8130D-BB3D-437B-8653-4BFE62C7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已经具备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913DC-32DC-4AC2-B8B8-626E57A8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DC19C-A4F9-467F-A046-630A5B19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B8392-B32F-4C7C-BB63-1959B991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本地数据输入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08F8C-1F2A-47F0-B534-D4729AEB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F09D5-523E-46C2-81EE-3A757F62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10E23-F3DB-4645-B3E1-313F0743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DF8F5-FA08-4721-837E-12C1DD69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训练选优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031A4-2024-43C7-8BB5-F0EE754B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选择最优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BDC5E-322F-409F-9AC1-C19F5125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C927E-1D10-4450-AC9C-D070D8E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282FE-11F6-4BFF-88A6-2D5D49B9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23929-266D-4E65-9C35-F45F48C4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本地权重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7066C-A226-4320-B5CE-0162603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保存模型文件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F42762-CBC3-4582-81A9-2F94C7C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FAF51-B8CB-4D2B-92D6-B80FAFA2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992AB-34CD-4D77-A500-E5D0548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11F4E-5DA0-4AC7-ABCF-428E0A6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后续推理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91BE7-4493-4679-A3F5-385DCEC9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直接加载使用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3AE2F6-B14B-4ABE-816F-AB70072B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企业接入计划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2188C9-FF71-4C15-A18F-390A7390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09C86-A61D-49C2-BCEA-9AEDD1DF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授权与标准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E212A4-6A73-47B3-B56F-41324C99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企业样本与岗位规则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ADC6E6-44FF-4753-ABC8-783987E0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C1E42-BC94-46F9-BC00-AA01E9CF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BAB10D-F721-4CAC-A408-18AD1861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6DD486-3F72-4B16-AEC7-D733C13D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版本管理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493B99-0869-49C5-B179-37C75A9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按企业登记模型资产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0F6F0A-7FAA-4FC9-BA29-35E5B2EE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621D93-151F-4A56-827A-A9C755F2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70FE05-DD13-4FA7-837E-49EC8F99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028CDB-7363-4839-9FB1-E87D0E8B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独立评估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C5BEC2-3F72-4BC3-89AE-927B3FC2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确认新增样本的效果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C63000-A00B-4E2C-BA61-ABFFFD5F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C6BA6D-0336-4D43-BD88-F1EC82FF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CEA435-02BC-49A5-9806-1C8E7C3E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5586F7-3BDE-474C-AD30-FAED839C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升级与回滚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D182CD-A389-4AD2-B273-813F6846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批准后部署新版本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533223-A8CE-4F65-A17A-B184BAA1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企业自动微调、租户隔离、版本注册与回滚仍需实现；长期积累经确认的岗位规则与纠错样本</a:t>
            </a:r>
          </a:p>
        </p:txBody>
      </p:sp>
    </p:spTree>
    <p:extLst>
      <p:ext uri="{BB962C8B-B14F-4D97-AF65-F5344CB8AC3E}">
        <p14:creationId xmlns:p14="http://schemas.microsoft.com/office/powerpoint/2010/main" val="872816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B3013-76D9-4B4A-A4E1-1E7274CC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技术底座，可以逐项核验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5422E-407D-477F-9C13-3B2484A3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183F1-D00E-4401-9108-B52F6E8D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4B65D-282B-474E-A886-74D94F5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7C788-B022-4F39-BACC-082F7342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71875" cy="40671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6DE15-1455-4D63-A642-65AF7A9D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9CBA5-170C-4EFC-ACCB-1A840701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项流程测试通过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38031-2DF5-48D5-A97D-6427AC6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905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页面、契约与几何规则</a:t>
            </a:r>
          </a:p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本次核查已重新执行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3CFF8-E666-4E64-AB58-62BD179C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A720B-B91C-4092-9DCB-5518B99B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47875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67124-09FC-4D04-9EBD-F4EEFFE3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90725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类动作分类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E5B02-2866-4686-9038-FA514B9D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 ST-GCN 权重，范围可核对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07B6D-2E69-4F4A-8D94-BB52A0D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05429-31C2-477E-8896-A92EFCD6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2900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56FDE-3249-4985-AD69-C4210429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类专项训练规则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D8760-DA79-4AE2-9919-0462F54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阶段、计数与动作纠错，主演示深蹲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A6ED2-F168-4439-BB1C-78CA9D7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D143B-0BFE-4294-8B85-181DE1E0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10125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本地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44789-0810-431C-93CE-B94DD171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52975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视觉推理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1FB65-BE83-4ED4-9AE9-4072CD9D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76850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本地模型权重，逐帧推理在本地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613A0-DB60-4168-8B95-A423727C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流程测试不代表模型精度。企业现场泛化、误报漏报与设备性能，进入试点单独验收</a:t>
            </a:r>
          </a:p>
        </p:txBody>
      </p:sp>
    </p:spTree>
    <p:extLst>
      <p:ext uri="{BB962C8B-B14F-4D97-AF65-F5344CB8AC3E}">
        <p14:creationId xmlns:p14="http://schemas.microsoft.com/office/powerpoint/2010/main" val="808256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3C642-49FD-40F6-A965-C979DB69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第一笔收入，来自一个训练点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2B120-3D7D-44E1-B3CD-440E6C7D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736B5-178E-4856-A1CF-5425C932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401AC-106F-446E-AE91-3555E135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F1ED2-D216-4129-B8A3-1FBE04DE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首个购买场景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25B4E-5DF2-4EEC-8E42-ACE3F1F0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8101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制造 / 仓储</a:t>
            </a:r>
          </a:p>
          <a:p xmlns:a="http://schemas.openxmlformats.org/drawingml/2006/main">
            <a:pPr>
              <a:def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一个有明确考核需求的训练点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3533A-79B4-4A3C-BE9F-FD35198E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619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推动：培训负责人或 EHS</a:t>
            </a:r>
          </a:p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使用：班组长与一线员工</a:t>
            </a:r>
          </a:p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部署：IT 参与确认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A19D8-C1E2-410F-8E6B-EA78ED61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476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96F04-4A6B-46BB-A555-7A6F3897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采购依据：复训效率与持续使用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57206-B8E3-4A65-BE29-C524367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57400"/>
            <a:ext cx="25908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B70EB-824D-4DA5-92DA-AD1E3B65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岗位适配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EBE7F-35DD-4A2A-A9AC-3763833B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3845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岗位规则确认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部署与适配费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035BD-342C-4975-89EA-9714DE59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00375"/>
            <a:ext cx="2190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6100C-256E-43EF-B419-C51C0FA0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FF9F7-38F2-4BFE-89C8-B8844CCB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57400"/>
            <a:ext cx="25717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3FDE7-591C-4986-A02B-6CBC42E4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训练点服务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DF711-1DF1-49AD-ACD3-9EFBB722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8450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年度服务费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持续复训与支持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D12F0-A97C-4EE6-BBD8-1376CEAC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343400"/>
            <a:ext cx="5572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9649E-908A-40F4-AB76-05C7A236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67250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扩展到相邻岗位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EEFD8-F779-4CE5-B47D-EF36DB37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76850"/>
            <a:ext cx="5334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复用引擎与事件记录，新增经企业确认的规则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现场维护与复核成本纳入毛利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1E96B-168E-4705-A69B-BA692E55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收费方式为商业假设，尚无付费或签约证据；招聘与转岗评估保留为相邻场景</a:t>
            </a:r>
          </a:p>
        </p:txBody>
      </p:sp>
    </p:spTree>
    <p:extLst>
      <p:ext uri="{BB962C8B-B14F-4D97-AF65-F5344CB8AC3E}">
        <p14:creationId xmlns:p14="http://schemas.microsoft.com/office/powerpoint/2010/main" val="1704202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F86E8C-330B-4E6A-BFE7-9EE6F121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四周试点，把采购问题逐项回答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D3E90-D226-42B8-BA40-5139D853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F3D03-3849-41E5-94B6-673E91A7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1194A-DA24-498B-B94D-020001A7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44AC4-40A5-4DDF-B41E-295ECC5F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FC4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20344-2231-41FE-A7BC-853D5082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C5339-6F0E-4303-9ED4-08AC0871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416FE-50B4-49E1-BB43-1F6E222A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7E010-2027-4B05-BB3A-DEE60DFE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定标准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64D3B-24F8-49DA-817B-CBDA44A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确认岗位动作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记录人工基线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D889D-E4C3-48E0-B05B-66A58852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2F9A2-4ADE-46FF-9ADE-C2B679EB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8E504-999D-4E7E-A25E-770B32BC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4878F-9253-4613-AC68-5B7FFFDD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并行训练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33FCD-58BE-4FF0-B6F5-529A33DC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AI 与人工同时记录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保留分歧样例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E3F57-3EE9-4065-876B-5E63890C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F1A09-7746-4975-A5DF-8A48B741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5F88B-D6A5-4970-89F6-F876DC80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9E273-D438-4E27-B8BD-5A16AF63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测复杂场景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2C2CE-7799-48E6-B928-C515ED6A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变化机位与遮挡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不同员工参与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1E11D-CA98-49CB-859C-39A019AD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A32C7-23AE-4888-BE3C-B69B8BE5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60062-38F5-47E7-A656-A15DF86A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EA24F-30FF-4806-8562-DFBC256D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共同复盘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FCFBA-D592-4847-AA31-471D03EE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对照验收指标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决定采购与扩展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6E47A8-C2E3-4973-AD09-8A4AE715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AD81F-808F-4A35-8C53-9FBFE39E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53075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验收指标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F0ADF-EBFA-41FD-9C7E-4CD776B5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53075"/>
            <a:ext cx="868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工时    判断一致性    复核率    复训后错误率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6D7643-6C92-47F7-B499-3FF35C81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试点计划，尚非客户承诺。阈值提前共同约定；安全模块另测每摄像头小时误报与漏报</a:t>
            </a:r>
          </a:p>
        </p:txBody>
      </p:sp>
    </p:spTree>
    <p:extLst>
      <p:ext uri="{BB962C8B-B14F-4D97-AF65-F5344CB8AC3E}">
        <p14:creationId xmlns:p14="http://schemas.microsoft.com/office/powerpoint/2010/main" val="18081360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98076-65BD-43B9-BF1C-2986F6E5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练了么 · AI 动作教练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54343-89DC-420E-A13B-6DFE2144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05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7AF29-83D1-420F-B594-71D8405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6224E-AF72-4A58-9756-E7D0C596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C6BD4-4A3A-4BD2-A61F-F9096A74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我们寻找一家试点企业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2C941-8D21-47CC-9062-B8FD5C6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060AF-7F7E-44CE-BEFC-54C0362E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1 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614E9-4BA6-45A5-81E1-6E760875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108A9-92A9-4834-BA03-C2347F80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44A89-E2D4-4B2A-9EAA-D36EFA97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1 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E270A-B05B-434A-A52B-C8D0B4F3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岗位专家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00434-4618-4DFF-9A0B-9314EB4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9314B-58A7-4E55-89F6-C3304E2B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4 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F1C60-2EF7-4A6F-A5FD-0FB6272E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并行验证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D3DF4-3AB4-47DB-9308-2540B116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让一线员工做对动作，让主管看见进步</a:t>
            </a:r>
          </a:p>
        </p:txBody>
      </p:sp>
    </p:spTree>
    <p:extLst>
      <p:ext uri="{BB962C8B-B14F-4D97-AF65-F5344CB8AC3E}">
        <p14:creationId xmlns:p14="http://schemas.microsoft.com/office/powerpoint/2010/main" val="12980460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3806C-A433-4E67-AEC8-7DFAD5CD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智能体分工 01–10：任务与训练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1F01B-714F-4396-9B95-BBDCB9D9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98E83-61B0-432F-A16F-4E89D19E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建议搭建清单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4192D-B252-4727-A794-DF0EE414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工具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独立产物与验收点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任务调度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自然语言任务 / 任务适配器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任务拆解、负责人、缺失信息追问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岗位标准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岗位与动作 / 企业标准库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带来源和版本的标准，未知标准转确认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训练计划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人员项目 / 计划工具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训练项目与次数，缺失目标时追问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设备检查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机位与帧 / 质量检测工具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入镜检查和调整建议，不足时阻止开始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动作教练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会话帧 / 本地推理 API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阶段、次数、纠错与总结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 考核记录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服务端会话 / 记录适配器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可追溯记录，拒绝无依据的次数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 复训安排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错误摘要 / 计划工具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错误对应的复训任务与复测条件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 动作答疑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员工问题 / 标准知识库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有来源的动作说明，超范围转人工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 批次报告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会话集合 / 汇总工具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完成清单、分歧项与需复训人员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弯腰提醒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姿态事件 / bend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角度与持续时间，未达门控不告警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4D730-F37F-4B6A-A184-691D489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角色方案尚需平台配置与调用记录。共用底层工具时，各角色仍应交付不同的业务结果</a:t>
            </a:r>
          </a:p>
        </p:txBody>
      </p:sp>
    </p:spTree>
    <p:extLst>
      <p:ext uri="{BB962C8B-B14F-4D97-AF65-F5344CB8AC3E}">
        <p14:creationId xmlns:p14="http://schemas.microsoft.com/office/powerpoint/2010/main" val="5595015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6CBB6-D3C1-4420-9314-038BB14C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智能体分工 11–19：安全、复核与模型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E0FDA-AAB8-4FE8-A8B7-BBDEF845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CC9FA-671E-4F19-A53A-99D3F513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建议搭建清单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3C45E-AC5E-4FD2-8732-1EFC6F57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09728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工具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独立产物与验收点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跌倒提醒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姿态事件 / fall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疑似跌倒证据和人员核查提示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头盔检查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PPE 检测 / no_helmet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缺失事件，模型不可用时明确报告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危险区提醒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区域配置 / danger_zone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进入部位、区域和持续时间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低头静止提醒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姿态序列 / drowsy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静止事件与核查提示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倒地静止提醒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姿态序列 / unconscious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异常姿态事件与紧急核查提示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事件复核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事件与人工意见 / 事件库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确认、撤销或待跟进的处置记录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样本管理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授权样本 / 数据处理工具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授权范围、质量检查与训练划分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模型训练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数据版本 / 训练脚本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checkpoint 与独立评估报告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权重管理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评估与批准 / 资产注册工具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版本登记、加载与回滚记录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8D266-4D78-4366-91C2-9D7E5ABB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目标为 19 个角色；有效数量以平台验收为准。静止类识别输出行为信号，交由人员核查</a:t>
            </a:r>
          </a:p>
        </p:txBody>
      </p:sp>
    </p:spTree>
    <p:extLst>
      <p:ext uri="{BB962C8B-B14F-4D97-AF65-F5344CB8AC3E}">
        <p14:creationId xmlns:p14="http://schemas.microsoft.com/office/powerpoint/2010/main" val="7345698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03F22-5B47-48A2-89C3-144A79E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交付状态与下一步验收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607CB-1262-44ED-BD0D-9A50914A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6B281-041A-4073-9CEF-1535A84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实现边界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328C7-8898-413B-92ED-72FF8597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333875"/>
                <a:gridCol w="4400550"/>
              </a:tblGrid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下一步验收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Web 主链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页面、会话、计数、纠错、总结代码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真实摄像头连续演示与稳定性记录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安全模块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姿态检测、6 类规则、事件库与确认接口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 PPE 权重，现场评估误报漏报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模型能力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本地权重、训练脚本、加载代码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按受试者/场地分组的独立测试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平台空间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角色分工方案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 10 个有效智能体与协作运行记录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企业治理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字段契约及 API 映射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鉴权、幂等回写、隔离、版本与回滚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正式考核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认证记录接口已有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服务端会话绑定、人工复核与防重放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1A3C7-3D68-448C-8F5B-EC545A20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核心推理可本地部署；目标设备吞吐量、现场收益及企业级治理尚不能视为已经验收</a:t>
            </a:r>
          </a:p>
        </p:txBody>
      </p:sp>
    </p:spTree>
    <p:extLst>
      <p:ext uri="{BB962C8B-B14F-4D97-AF65-F5344CB8AC3E}">
        <p14:creationId xmlns:p14="http://schemas.microsoft.com/office/powerpoint/2010/main" val="5782411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ABCAD-63D7-45AF-BCD8-E316052B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收费空间，先用客户的工时账来算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DE353-19B7-4567-AFF2-35F2DC23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F8212-6F79-4BFE-BDCA-B7B975EF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假设测算，非试点收益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A220E-16BB-4164-A637-5DDED12E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477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7650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可替换输入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示例假设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每月训练量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 人次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每人减少观察与整理时间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分钟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每人新增复核时间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分钟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综合人工成本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元 / 小时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F2F2F-BB55-449B-9909-254BCD5C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81225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80 小时 / 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43990-2F2B-40FE-9166-95FF967C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2275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净节省工时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9DA2D-A7BA-4112-AAA9-CB9BF33D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4,800 元 /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0200C-DE2F-4E8B-8A4E-7DCFE08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244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对应人工成本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8BCB5-1DA2-4F1E-B200-E5BEEC96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未扣设备、部署、软件和维护成本。用客户实测替换全部假设，再决定采购预算与报价</a:t>
            </a:r>
          </a:p>
        </p:txBody>
      </p:sp>
    </p:spTree>
    <p:extLst>
      <p:ext uri="{BB962C8B-B14F-4D97-AF65-F5344CB8AC3E}">
        <p14:creationId xmlns:p14="http://schemas.microsoft.com/office/powerpoint/2010/main" val="15921139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5EB8D-1703-4D56-BAEE-169B4D50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现场演示：45 秒讲清一次完整动作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099D9-F296-40E1-9854-E48B1EF3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C8900-FB3E-4B07-954E-ED0B296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演示执行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2D1D0-CA84-4AA3-9639-03895C50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381500"/>
                <a:gridCol w="48291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观众看到什么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要证明什么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0–10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选择深蹲项目，全身入镜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真实模型链路与机位已经准备好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10–22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一次动作错误，出现具体提示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系统指出需要调整的关节与姿态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22–35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调整姿势，完成完整动作周期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次数随完整周期增加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35–45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结束会话，展示训练总结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过程可以形成后续复训依据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18428-A8D4-4FB9-881D-342BDC84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故障时：明确说明无法判定，使用标注清楚的界面演示继续讲解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A350E-31A7-4A14-9E3F-4D7FC1D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当前 PPT 使用既有界面图片，未嵌入真人演示视频；正式路演前按上述顺序录制</a:t>
            </a:r>
          </a:p>
        </p:txBody>
      </p:sp>
    </p:spTree>
    <p:extLst>
      <p:ext uri="{BB962C8B-B14F-4D97-AF65-F5344CB8AC3E}">
        <p14:creationId xmlns:p14="http://schemas.microsoft.com/office/powerpoint/2010/main" val="207142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2026-09-21T11:48:09.2700000Z</dcterms:created>
  <dcterms:modified xsi:type="dcterms:W3CDTF">2026-09-21T11:48:09.2700000Z</dcterms:modified>
</coreProperties>
</file>