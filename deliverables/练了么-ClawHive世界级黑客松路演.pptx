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c948a434bf4c3f" /><Relationship Type="http://schemas.openxmlformats.org/officeDocument/2006/relationships/extended-properties" Target="/docProps/app.xml" Id="R867f9048b6364dc8" /><Relationship Type="http://schemas.openxmlformats.org/officeDocument/2006/relationships/officeDocument" Target="/ppt/presentation.xml" Id="R626aee767a4646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df16e8b6554c97"/>
  </p:sldMasterIdLst>
  <p:notesMasterIdLst>
    <p:notesMasterId xmlns:r="http://schemas.openxmlformats.org/officeDocument/2006/relationships" r:id="R2cb5c95e7d1e4b4c"/>
  </p:notesMasterIdLst>
  <p:sldIdLst>
    <p:sldId xmlns:r="http://schemas.openxmlformats.org/officeDocument/2006/relationships" id="256" r:id="R4b6e1de611b9458e"/>
    <p:sldId xmlns:r="http://schemas.openxmlformats.org/officeDocument/2006/relationships" id="257" r:id="R0d36b3c4dc174b3e"/>
    <p:sldId xmlns:r="http://schemas.openxmlformats.org/officeDocument/2006/relationships" id="258" r:id="R6c812c454635408f"/>
    <p:sldId xmlns:r="http://schemas.openxmlformats.org/officeDocument/2006/relationships" id="259" r:id="R44516623118845dc"/>
    <p:sldId xmlns:r="http://schemas.openxmlformats.org/officeDocument/2006/relationships" id="260" r:id="R243030dc2a7f41ae"/>
    <p:sldId xmlns:r="http://schemas.openxmlformats.org/officeDocument/2006/relationships" id="261" r:id="Re97b80cfadab4abe"/>
    <p:sldId xmlns:r="http://schemas.openxmlformats.org/officeDocument/2006/relationships" id="262" r:id="R7d9e0defd5d64e35"/>
    <p:sldId xmlns:r="http://schemas.openxmlformats.org/officeDocument/2006/relationships" id="263" r:id="R70133ea6aa9c4881"/>
    <p:sldId xmlns:r="http://schemas.openxmlformats.org/officeDocument/2006/relationships" id="264" r:id="R6b727020d5c74917"/>
    <p:sldId xmlns:r="http://schemas.openxmlformats.org/officeDocument/2006/relationships" id="265" r:id="Rad5f971693d641fd"/>
    <p:sldId xmlns:r="http://schemas.openxmlformats.org/officeDocument/2006/relationships" id="266" r:id="Ra9d0bb24d2184dfd"/>
    <p:sldId xmlns:r="http://schemas.openxmlformats.org/officeDocument/2006/relationships" id="267" r:id="Rbae9ef8ecfcd413c"/>
    <p:sldId xmlns:r="http://schemas.openxmlformats.org/officeDocument/2006/relationships" id="268" r:id="Rc705af799a174a66"/>
    <p:sldId xmlns:r="http://schemas.openxmlformats.org/officeDocument/2006/relationships" id="269" r:id="R7fb5493fa2b64634"/>
    <p:sldId xmlns:r="http://schemas.openxmlformats.org/officeDocument/2006/relationships" id="270" r:id="R5a256bbaf1dd4af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c21045e1174ac8" /><Relationship Type="http://schemas.openxmlformats.org/officeDocument/2006/relationships/slideMaster" Target="/ppt/slideMasters/slideMaster1.xml" Id="R77df16e8b6554c97" /><Relationship Type="http://schemas.openxmlformats.org/officeDocument/2006/relationships/notesMaster" Target="/ppt/notesMasters/notesMaster1.xml" Id="R2cb5c95e7d1e4b4c" /><Relationship Type="http://schemas.openxmlformats.org/officeDocument/2006/relationships/presProps" Target="/ppt/presProps.xml" Id="Rcecec30e58654010" /><Relationship Type="http://schemas.openxmlformats.org/officeDocument/2006/relationships/tableStyles" Target="/ppt/tableStyles.xml" Id="Re1ecb8f29d0a4363" /><Relationship Type="http://schemas.openxmlformats.org/officeDocument/2006/relationships/slide" Target="/ppt/slides/slide1.xml" Id="R4b6e1de611b9458e" /><Relationship Type="http://schemas.openxmlformats.org/officeDocument/2006/relationships/slide" Target="/ppt/slides/slide2.xml" Id="R0d36b3c4dc174b3e" /><Relationship Type="http://schemas.openxmlformats.org/officeDocument/2006/relationships/slide" Target="/ppt/slides/slide3.xml" Id="R6c812c454635408f" /><Relationship Type="http://schemas.openxmlformats.org/officeDocument/2006/relationships/slide" Target="/ppt/slides/slide4.xml" Id="R44516623118845dc" /><Relationship Type="http://schemas.openxmlformats.org/officeDocument/2006/relationships/slide" Target="/ppt/slides/slide5.xml" Id="R243030dc2a7f41ae" /><Relationship Type="http://schemas.openxmlformats.org/officeDocument/2006/relationships/slide" Target="/ppt/slides/slide6.xml" Id="Re97b80cfadab4abe" /><Relationship Type="http://schemas.openxmlformats.org/officeDocument/2006/relationships/slide" Target="/ppt/slides/slide7.xml" Id="R7d9e0defd5d64e35" /><Relationship Type="http://schemas.openxmlformats.org/officeDocument/2006/relationships/slide" Target="/ppt/slides/slide8.xml" Id="R70133ea6aa9c4881" /><Relationship Type="http://schemas.openxmlformats.org/officeDocument/2006/relationships/slide" Target="/ppt/slides/slide9.xml" Id="R6b727020d5c74917" /><Relationship Type="http://schemas.openxmlformats.org/officeDocument/2006/relationships/slide" Target="/ppt/slides/slide10.xml" Id="Rad5f971693d641fd" /><Relationship Type="http://schemas.openxmlformats.org/officeDocument/2006/relationships/slide" Target="/ppt/slides/slide11.xml" Id="Ra9d0bb24d2184dfd" /><Relationship Type="http://schemas.openxmlformats.org/officeDocument/2006/relationships/slide" Target="/ppt/slides/slide12.xml" Id="Rbae9ef8ecfcd413c" /><Relationship Type="http://schemas.openxmlformats.org/officeDocument/2006/relationships/slide" Target="/ppt/slides/slide13.xml" Id="Rc705af799a174a66" /><Relationship Type="http://schemas.openxmlformats.org/officeDocument/2006/relationships/slide" Target="/ppt/slides/slide14.xml" Id="R7fb5493fa2b64634" /><Relationship Type="http://schemas.openxmlformats.org/officeDocument/2006/relationships/slide" Target="/ppt/slides/slide15.xml" Id="R5a256bbaf1dd4a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2045acba9940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9212ac4f10474c" /><Relationship Type="http://schemas.openxmlformats.org/officeDocument/2006/relationships/notesMaster" Target="/ppt/notesMasters/notesMaster1.xml" Id="Re841878ad2ae4a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82ff8da2df4c78" /><Relationship Type="http://schemas.openxmlformats.org/officeDocument/2006/relationships/notesMaster" Target="/ppt/notesMasters/notesMaster1.xml" Id="R62873c661f1147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6014c949c046e9" /><Relationship Type="http://schemas.openxmlformats.org/officeDocument/2006/relationships/notesMaster" Target="/ppt/notesMasters/notesMaster1.xml" Id="R7c85e6e9190344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d30f0eb5df439a" /><Relationship Type="http://schemas.openxmlformats.org/officeDocument/2006/relationships/notesMaster" Target="/ppt/notesMasters/notesMaster1.xml" Id="Rb82b2dc5149a42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85f6bfd5d9346ea" /><Relationship Type="http://schemas.openxmlformats.org/officeDocument/2006/relationships/notesMaster" Target="/ppt/notesMasters/notesMaster1.xml" Id="R44f4dcc5919c470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71919baf41445bf" /><Relationship Type="http://schemas.openxmlformats.org/officeDocument/2006/relationships/notesMaster" Target="/ppt/notesMasters/notesMaster1.xml" Id="R420b793a9d034d6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b39e914bb59434f" /><Relationship Type="http://schemas.openxmlformats.org/officeDocument/2006/relationships/notesMaster" Target="/ppt/notesMasters/notesMaster1.xml" Id="Rded958bc8424471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45b6d61a4364e9b" /><Relationship Type="http://schemas.openxmlformats.org/officeDocument/2006/relationships/notesMaster" Target="/ppt/notesMasters/notesMaster1.xml" Id="Recff69d05a5846b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bf1a469cf134e15" /><Relationship Type="http://schemas.openxmlformats.org/officeDocument/2006/relationships/notesMaster" Target="/ppt/notesMasters/notesMaster1.xml" Id="Re5d76c796153472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1507fcad8b745fb" /><Relationship Type="http://schemas.openxmlformats.org/officeDocument/2006/relationships/notesMaster" Target="/ppt/notesMasters/notesMaster1.xml" Id="R314b0d01c33a404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fd204cffe08413e" /><Relationship Type="http://schemas.openxmlformats.org/officeDocument/2006/relationships/notesMaster" Target="/ppt/notesMasters/notesMaster1.xml" Id="R110440c813e344b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eff5b8e5fe64084" /><Relationship Type="http://schemas.openxmlformats.org/officeDocument/2006/relationships/notesMaster" Target="/ppt/notesMasters/notesMaster1.xml" Id="R21d8c976f8ff4d1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a22dfcedf1f413c" /><Relationship Type="http://schemas.openxmlformats.org/officeDocument/2006/relationships/notesMaster" Target="/ppt/notesMasters/notesMaster1.xml" Id="Ra5fedebff80c48f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62cc076bab74e1f" /><Relationship Type="http://schemas.openxmlformats.org/officeDocument/2006/relationships/notesMaster" Target="/ppt/notesMasters/notesMaster1.xml" Id="Ra98cc327c3ed42b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7e344c27b664bf8" /><Relationship Type="http://schemas.openxmlformats.org/officeDocument/2006/relationships/notesMaster" Target="/ppt/notesMasters/notesMaster1.xml" Id="Rfcdaf55c3ed541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开场只讲一件事：ClawHive 已经能管理数字员工，练了么让数字员工获得对物理动作的实时感知能力。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本地产品截图：.codex-tmp/pitchdeck/screens/home.png</a:t>
            </a:r>
          </a:p>
          <a:p xmlns:a="http://schemas.openxmlformats.org/drawingml/2006/main">
            <a:r>
              <a:t>- 用户提供的大赛介绍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用一个具体批次让评委感受工作量。强调最终录用权仍在人手中，产品接管重复性、可标准化的观察和记录。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docs/PRD.md §3–4</a:t>
            </a:r>
          </a:p>
          <a:p xmlns:a="http://schemas.openxmlformats.org/drawingml/2006/main">
            <a:r>
              <a:t>- data/demo/enterprise_demo.json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一条链路讲完：任务从企业工作入口发起，普通摄像头完成检测，ClawHive 接收结构化结果并把异常交给 HR 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docs/PRD.md §4</a:t>
            </a:r>
          </a:p>
          <a:p xmlns:a="http://schemas.openxmlformats.org/drawingml/2006/main">
            <a:r>
              <a:t>- README.md 企业级 Skill 形态</a:t>
            </a:r>
          </a:p>
          <a:p xmlns:a="http://schemas.openxmlformats.org/drawingml/2006/main">
            <a:r>
              <a:t>- 本地截图：coach-counted.png、certification.png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这一页是核心产品证据。请现场指出橙色纠正提示、关节引导箭头和计数区域；随后说明错误动作不会被默默吞掉。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src/live_coach.py</a:t>
            </a:r>
          </a:p>
          <a:p xmlns:a="http://schemas.openxmlformats.org/drawingml/2006/main">
            <a:r>
              <a:t>- src/ghost_coach.py</a:t>
            </a:r>
          </a:p>
          <a:p xmlns:a="http://schemas.openxmlformats.org/drawingml/2006/main">
            <a:r>
              <a:t>- templates/index.html</a:t>
            </a:r>
          </a:p>
          <a:p xmlns:a="http://schemas.openxmlformats.org/drawingml/2006/main">
            <a:r>
              <a:t>- 本地截图：coach-error.png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这是评委最需要记住的技术创新：一次调用不只返回答案，还能沉淀一份可治理的垂直权重资产；后续调用带着明确版本进入生产流程。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README.md：训练 + 沉淀 + 复用</a:t>
            </a:r>
          </a:p>
          <a:p xmlns:a="http://schemas.openxmlformats.org/drawingml/2006/main">
            <a:r>
              <a:t>- skill-build/enterprise-pose-coach/SKILL.md §1、§6</a:t>
            </a:r>
          </a:p>
          <a:p xmlns:a="http://schemas.openxmlformats.org/drawingml/2006/main">
            <a:r>
              <a:t>- skill-build/enterprise-pose-coach/references/contract.md §8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把项目嵌入帝王蟹五层能力，主动说明连接层仍在最后接线。这样既能证明平台适配，又不会把原型说成已上线。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用户提供的大赛介绍：ClawHive 五层能力</a:t>
            </a:r>
          </a:p>
          <a:p xmlns:a="http://schemas.openxmlformats.org/drawingml/2006/main">
            <a:r>
              <a:t>- README.md：大赛定位与能力层映射</a:t>
            </a:r>
          </a:p>
          <a:p xmlns:a="http://schemas.openxmlformats.org/drawingml/2006/main">
            <a:r>
              <a:t>- skill-build/enterprise-pose-coach/references/api-mapping.md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架构里最重要的边界是：确定性视觉和规则链负责核心判定，生成式模型负责解释与编排。企业可以替换模型或标准，不必重写业务流程。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README.md：技术架构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src/fitness_infer.py</a:t>
            </a:r>
          </a:p>
          <a:p xmlns:a="http://schemas.openxmlformats.org/drawingml/2006/main">
            <a:r>
              <a:t>- src/live_coach.py</a:t>
            </a:r>
          </a:p>
          <a:p xmlns:a="http://schemas.openxmlformats.org/drawingml/2006/main">
            <a:r>
              <a:t>- src/local_llm.py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先讲训练曲线和模型文件都可核验，再主动限定证据边界。自动测试证明业务流程与规则稳定；无 GPU smoke 不替代真实模型精度。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docs/mmfit-retrain-summary-2026-05-29.md</a:t>
            </a:r>
          </a:p>
          <a:p xmlns:a="http://schemas.openxmlformats.org/drawingml/2006/main">
            <a:r>
              <a:t>- docs/real-evidence.md</a:t>
            </a:r>
          </a:p>
          <a:p xmlns:a="http://schemas.openxmlformats.org/drawingml/2006/main">
            <a:r>
              <a:t>- 2026-08-30 本地运行 npm run check：23 tests OK</a:t>
            </a:r>
          </a:p>
          <a:p xmlns:a="http://schemas.openxmlformats.org/drawingml/2006/main">
            <a:r>
              <a:t>- 2026-08-30 本地运行 npm run demo：status=passed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高影响招聘场景需要主动展示失败处理。评委会更相信一个知道何时不作判断的系统。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skill-build/enterprise-pose-coach/references/contract.md §3–7</a:t>
            </a:r>
          </a:p>
          <a:p xmlns:a="http://schemas.openxmlformats.org/drawingml/2006/main">
            <a:r>
              <a:t>- docs/PRD.md §6、§12</a:t>
            </a:r>
          </a:p>
          <a:p xmlns:a="http://schemas.openxmlformats.org/drawingml/2006/main">
            <a:r>
              <a:t>- README.md：数据、安全与使用边界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投资人关注谁付钱、为什么续费。招聘筛选提供清晰预算入口，入职后复用终端、权限和 Skill，扩展到持续训练。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README.md：商业价值与落地路径</a:t>
            </a:r>
          </a:p>
          <a:p xmlns:a="http://schemas.openxmlformats.org/drawingml/2006/main">
            <a:r>
              <a:t>- docs/PRD.md §2–3、商业化附录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把下一步变成一个低风险、可采购的并行试点。当前完成度也要讲清楚：核心技术闭环可核验，平台连接和企业治理字段正在最后接线。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README.md：建议试点、当前实现与产品方向</a:t>
            </a:r>
          </a:p>
          <a:p xmlns:a="http://schemas.openxmlformats.org/drawingml/2006/main">
            <a:r>
              <a:t>- docs/tasks.md</a:t>
            </a:r>
          </a:p>
          <a:p xmlns:a="http://schemas.openxmlformats.org/drawingml/2006/main">
            <a:r>
              <a:t>- docs/PRD.md §10–12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收尾给出明确行动：进入技能市场并完成一个并行试点。最后一句要停顿，让评委记住资产沉淀，而不是只记住一个动作识别页面。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docs/PRD.md</a:t>
            </a:r>
          </a:p>
          <a:p xmlns:a="http://schemas.openxmlformats.org/drawingml/2006/main">
            <a:r>
              <a:t>- 用户提供的大赛介绍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三个 Sample 对应比赛要求。S1 证明落地，S2 证明复用，S3 证明市场扩张；每个样例都明确当前边界。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README.md：三组比赛 Sample</a:t>
            </a:r>
          </a:p>
          <a:p xmlns:a="http://schemas.openxmlformats.org/drawingml/2006/main">
            <a:r>
              <a:t>- docs/PRD.md §4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契约页用于回答 Skill 完整度问题。输入解决幂等、租户与标准选择；输出解决回写、复核和审计追溯。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skill-build/enterprise-pose-coach/references/contract.md</a:t>
            </a:r>
          </a:p>
          <a:p xmlns:a="http://schemas.openxmlformats.org/drawingml/2006/main">
            <a:r>
              <a:t>- skill-build/enterprise-pose-coach/references/api-mapping.md</a:t>
            </a:r>
          </a:p>
          <a:p xmlns:a="http://schemas.openxmlformats.org/drawingml/2006/main">
            <a:r>
              <a:t>- skill-build/enterprise-pose-coach/examples/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如果评委追问完成度，用这页正面回答。真人可用性研究当前没有参与者，因此不能声称已经验证。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docs/tasks.md</a:t>
            </a:r>
          </a:p>
          <a:p xmlns:a="http://schemas.openxmlformats.org/drawingml/2006/main">
            <a:r>
              <a:t>- docs/acceptance.md</a:t>
            </a:r>
          </a:p>
          <a:p xmlns:a="http://schemas.openxmlformats.org/drawingml/2006/main">
            <a:r>
              <a:t>- docs/ghost-coach-usability-results.md</a:t>
            </a:r>
          </a:p>
          <a:p xmlns:a="http://schemas.openxmlformats.org/drawingml/2006/main">
            <a:r>
              <a:t>- data/usability/ghost-coach-study.json</a:t>
            </a:r>
          </a:p>
          <a:p xmlns:a="http://schemas.openxmlformats.org/drawingml/2006/main">
            <a:r>
              <a:t>- 2026-08-30 本地验证日志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53fa42372645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2f05963c6140e6" /><Relationship Type="http://schemas.openxmlformats.org/officeDocument/2006/relationships/slideLayout" Target="/ppt/slideLayouts/slideLayout1.xml" Id="R0c77b6dd6bc042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77b6dd6bc042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684057fdf8425c" /><Relationship Type="http://schemas.openxmlformats.org/officeDocument/2006/relationships/image" Target="/ppt/media/image.jpeg" Id="R1d32743478564a59" /><Relationship Type="http://schemas.openxmlformats.org/officeDocument/2006/relationships/notesSlide" Target="/ppt/notesSlides/notesSlide1.xml" Id="R2c758a616fbc4c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247d69cc204384" /><Relationship Type="http://schemas.openxmlformats.org/officeDocument/2006/relationships/notesSlide" Target="/ppt/notesSlides/notesSlide2.xml" Id="Rfdc5e5c84e894e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3dbc8bd17348f0" /><Relationship Type="http://schemas.openxmlformats.org/officeDocument/2006/relationships/image" Target="/ppt/media/image2.jpeg" Id="Raa17465ef78441a7" /><Relationship Type="http://schemas.openxmlformats.org/officeDocument/2006/relationships/image" Target="/ppt/media/image3.jpeg" Id="R1025507d9aa24594" /><Relationship Type="http://schemas.openxmlformats.org/officeDocument/2006/relationships/notesSlide" Target="/ppt/notesSlides/notesSlide3.xml" Id="Rea8edb5f5cb046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c3c5c1d2ac4b3c" /><Relationship Type="http://schemas.openxmlformats.org/officeDocument/2006/relationships/image" Target="/ppt/media/image4.jpeg" Id="R70c1ea8a2d6c4768" /><Relationship Type="http://schemas.openxmlformats.org/officeDocument/2006/relationships/notesSlide" Target="/ppt/notesSlides/notesSlide4.xml" Id="Rd377af3d2e48425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e1a038d4cd4228" /><Relationship Type="http://schemas.openxmlformats.org/officeDocument/2006/relationships/notesSlide" Target="/ppt/notesSlides/notesSlide5.xml" Id="R2eee99e73eae4e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105ba3a1ae444f" /><Relationship Type="http://schemas.openxmlformats.org/officeDocument/2006/relationships/notesSlide" Target="/ppt/notesSlides/notesSlide6.xml" Id="R95d512e3866744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fc7a833dfe426b" /><Relationship Type="http://schemas.openxmlformats.org/officeDocument/2006/relationships/notesSlide" Target="/ppt/notesSlides/notesSlide7.xml" Id="Rd5c8328849044a8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60059370a9451f" /><Relationship Type="http://schemas.openxmlformats.org/officeDocument/2006/relationships/chart" Target="/ppt/slides/charts/chart1.xml" Id="Rbee70e157b6f42a7" /><Relationship Type="http://schemas.openxmlformats.org/officeDocument/2006/relationships/notesSlide" Target="/ppt/notesSlides/notesSlide8.xml" Id="R3f1522b31bc3416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a07842912d4889" /><Relationship Type="http://schemas.openxmlformats.org/officeDocument/2006/relationships/notesSlide" Target="/ppt/notesSlides/notesSlide9.xml" Id="R2c565b60b7f045a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7b2d8591aa4e8d" /><Relationship Type="http://schemas.openxmlformats.org/officeDocument/2006/relationships/notesSlide" Target="/ppt/notesSlides/notesSlide10.xml" Id="Rf7c03df274134a9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a8a1238f3441a8" /><Relationship Type="http://schemas.openxmlformats.org/officeDocument/2006/relationships/notesSlide" Target="/ppt/notesSlides/notesSlide11.xml" Id="R06fb6176bb42449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33d22ed5ee4c0d" /><Relationship Type="http://schemas.openxmlformats.org/officeDocument/2006/relationships/notesSlide" Target="/ppt/notesSlides/notesSlide12.xml" Id="Re33764725a92405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270ab7a4d34c85" /><Relationship Type="http://schemas.openxmlformats.org/officeDocument/2006/relationships/notesSlide" Target="/ppt/notesSlides/notesSlide13.xml" Id="Rce12dfe6c81040f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c016875c374632" /><Relationship Type="http://schemas.openxmlformats.org/officeDocument/2006/relationships/notesSlide" Target="/ppt/notesSlides/notesSlide14.xml" Id="Raf557941924749b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6d901bad4a4fa3" /><Relationship Type="http://schemas.openxmlformats.org/officeDocument/2006/relationships/notesSlide" Target="/ppt/notesSlides/notesSlide15.xml" Id="R930b6786d7d148c3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0B1324"/>
                </a:solidFill>
              </a:rPr>
              <a:t>5 轮训练准确率（%）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0B1324"/>
              </a:solidFill>
            </a:defRPr>
          </a:pPr>
        </a:p>
      </c:txPr>
    </c:title>
    <c:plotArea>
      <c:lineChart>
        <c:grouping val="standard"/>
        <c:ser>
          <c:idx val="0"/>
          <c:order val="0"/>
          <c:tx>
            <c:v>Train</c:v>
          </c:tx>
          <c:spPr>
            <a:ln xmlns:a="http://schemas.openxmlformats.org/drawingml/2006/main" w="28575">
              <a:solidFill>
                <a:srgbClr val="2155D9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155D9"/>
              </a:solidFill>
            </c:spPr>
          </c:marker>
          <c:cat>
            <c:strLit>
              <c:ptCount val="5"/>
              <c:pt idx="0">
                <c:v>Epoch 1</c:v>
              </c:pt>
              <c:pt idx="1">
                <c:v>Epoch 2</c:v>
              </c:pt>
              <c:pt idx="2">
                <c:v>Epoch 3</c:v>
              </c:pt>
              <c:pt idx="3">
                <c:v>Epoch 4</c:v>
              </c:pt>
              <c:pt idx="4">
                <c:v>Epoch 5</c:v>
              </c:pt>
            </c:strLit>
          </c:cat>
          <c:val>
            <c:numLit>
              <c:formatCode>0</c:formatCode>
              <c:ptCount val="5"/>
              <c:pt idx="0">
                <c:v>45.83</c:v>
              </c:pt>
              <c:pt idx="1">
                <c:v>70.78</c:v>
              </c:pt>
              <c:pt idx="2">
                <c:v>83.49</c:v>
              </c:pt>
              <c:pt idx="3">
                <c:v>88.74</c:v>
              </c:pt>
              <c:pt idx="4">
                <c:v>89.46</c:v>
              </c:pt>
            </c:numLit>
          </c:val>
        </c:ser>
        <c:ser>
          <c:idx val="1"/>
          <c:order val="1"/>
          <c:tx>
            <c:v>Validation</c:v>
          </c:tx>
          <c:spPr>
            <a:ln xmlns:a="http://schemas.openxmlformats.org/drawingml/2006/main" w="28575">
              <a:solidFill>
                <a:srgbClr val="12B981"/>
              </a:solidFill>
              <a:prstDash val="solid"/>
            </a:ln>
          </c:spPr>
          <c:marker>
            <c:symbol val="diamond"/>
            <c:size val="7"/>
            <c:spPr>
              <a:solidFill xmlns:a="http://schemas.openxmlformats.org/drawingml/2006/main">
                <a:srgbClr val="12B981"/>
              </a:solidFill>
            </c:spPr>
          </c:marker>
          <c:cat>
            <c:strLit>
              <c:ptCount val="5"/>
              <c:pt idx="0">
                <c:v>Epoch 1</c:v>
              </c:pt>
              <c:pt idx="1">
                <c:v>Epoch 2</c:v>
              </c:pt>
              <c:pt idx="2">
                <c:v>Epoch 3</c:v>
              </c:pt>
              <c:pt idx="3">
                <c:v>Epoch 4</c:v>
              </c:pt>
              <c:pt idx="4">
                <c:v>Epoch 5</c:v>
              </c:pt>
            </c:strLit>
          </c:cat>
          <c:val>
            <c:numLit>
              <c:formatCode>0</c:formatCode>
              <c:ptCount val="5"/>
              <c:pt idx="0">
                <c:v>47.75</c:v>
              </c:pt>
              <c:pt idx="1">
                <c:v>73.37</c:v>
              </c:pt>
              <c:pt idx="2">
                <c:v>84.72</c:v>
              </c:pt>
              <c:pt idx="3">
                <c:v>86.18</c:v>
              </c:pt>
              <c:pt idx="4">
                <c:v>93.15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5D9E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4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D9E2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solidFill>
              <a:srgbClr val="F7F8F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</a:defRPr>
            </a:pPr>
          </a:p>
        </c:txPr>
        <c:crossAx val="48650112"/>
        <c:crossBetween val="between"/>
        <c:majorUnit val="10"/>
      </c:valAx>
      <c:spPr>
        <a:noFill xmlns:a="http://schemas.openxmlformats.org/drawingml/2006/main"/>
        <a:ln xmlns:a="http://schemas.openxmlformats.org/drawingml/2006/main" w="0">
          <a:solidFill>
            <a:srgbClr val="F7F8FA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667085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7F8FA"/>
    </a:solidFill>
    <a:ln xmlns:a="http://schemas.openxmlformats.org/drawingml/2006/main" w="0">
      <a:solidFill>
        <a:srgbClr val="F7F8FA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D2072C-0581-425A-8536-6E5838FC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2781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A7A55D-C1D9-4E98-A878-E9BB9329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2781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CLAW HIVE × ENTERPRISE VISION SKILL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97B6D2-C248-4713-8E5E-A21167C3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5429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891"/>
          </a:bodyPr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让 ClawHive 的数字员工</a:t>
            </a:r>
          </a:p>
          <a:p xmlns:a="http://schemas.openxmlformats.org/drawingml/2006/main">
            <a:pPr algn="l">
              <a:defRPr sz="4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真正看见现场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48BCC4-556C-4174-A45B-DD1382A0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练了么｜企业体能与岗位动作评估数字员工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0D2E3B-48DA-42DE-A97D-07028B1E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普通摄像头完成实时计数、即时纠错、结果留痕与人工复核；一套 Skill 贯穿训练、沉淀、复用与升级。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D9C1A5-9A96-4A9F-BDC6-D63D4B7A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F3C6A4-C790-4584-824D-41650B98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网易智企帝王蟹 ClawHive 大赛 · 镇江站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B52607-82AE-42F7-9914-E1309F5B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AI-开发主赛道｜AI-视听为核心引擎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1EEB1E-92AB-4880-BA71-F60091AE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8150"/>
            <a:ext cx="5181600" cy="584835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9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32743478564a59"/>
          <a:srcRect xmlns:a="http://schemas.openxmlformats.org/drawingml/2006/main" l="25116" t="0" r="251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38900" y="457200"/>
            <a:ext cx="5143500" cy="5810250"/>
          </a:xfrm>
          <a:prstGeom xmlns:a="http://schemas.openxmlformats.org/drawingml/2006/main" prst="roundRect">
            <a:avLst>
              <a:gd name="adj" fmla="val 2222"/>
            </a:avLst>
          </a:prstGeom>
        </p:spPr>
      </p:pic>
    </p:spTree>
    <p:extLst>
      <p:ext uri="{BB962C8B-B14F-4D97-AF65-F5344CB8AC3E}">
        <p14:creationId xmlns:p14="http://schemas.microsoft.com/office/powerpoint/2010/main" val="19692234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C35E0C-F465-4F9A-96E3-D0225A82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BUSINESS BOTTLENECK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437A75-EDA2-4879-90FF-C61F3C89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招聘高峰里，考官是最稀缺的“传感器”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05D1D3-84C2-4DD6-8073-4F3018C6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BC622B-D9D5-42BD-BDA3-80A1BCBE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E68F2A-2B23-43F8-894E-14AC1AB0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581"/>
          </a:bodyPr>
          <a:lstStyle xmlns:a="http://schemas.openxmlformats.org/drawingml/2006/main"/>
          <a:p xmlns:a="http://schemas.openxmlformats.org/drawingml/2006/main">
            <a:pPr algn="l">
              <a:defRPr sz="58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30 × 50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502C44-CF10-42E3-BDBA-34FA0899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479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名候选人 × 次深蹲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DB62AF-0836-4090-9B96-E0298BBF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354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虚构演示批次，用来还原招聘现场的吞吐瓶颈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41A294-A342-4D1F-B3B5-A1121091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33909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0714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67E785-137A-4F88-BAA5-DEB7D039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价值验证不靠口号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4E67BB-9C63-4DCC-8E8B-AD8FE62C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rPr>
              <a:t>每百人考官工时</a:t>
            </a:r>
          </a:p>
          <a:p xmlns:a="http://schemas.openxmlformats.org/drawingml/2006/main">
            <a:pPr algn="l">
              <a:defRPr sz="1350" b="0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rPr>
              <a:t>AI / 人工计数一致性</a:t>
            </a:r>
          </a:p>
          <a:p xmlns:a="http://schemas.openxmlformats.org/drawingml/2006/main">
            <a:pPr algn="l">
              <a:defRPr sz="1350" b="0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rPr>
              <a:t>需复核率与争议处理时长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D150B7-28A3-4088-A0F6-D640FF75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28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372C6C-6435-43B7-B60A-2176677A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098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逐次计数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8EB511-9D41-4821-AF14-6F582F7D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86050"/>
            <a:ext cx="142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完整动作才有效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298271-3487-4D4E-96BB-E9570247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9070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B62520-0CF9-4266-9A38-B2DA00C9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28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635E27-F43A-4DDE-A10D-D863188C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098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判断幅度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6316BD-F6EC-4A0A-850C-CA994A13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86050"/>
            <a:ext cx="142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不同考官尺度不同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D74541-0966-4CF8-B685-1363A3B9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9070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AFF1C6-9A09-40F6-B845-3BACA8C6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28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91FCFF-0A3A-44D0-A37D-289B0559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098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纸面登记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164D2E-35C2-4059-9B38-F8DC0E59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86050"/>
            <a:ext cx="142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过程证据容易丢失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62387C-CCA7-4916-BF86-D75099CC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79070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4CB363-B4EB-465C-9223-593B7856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828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F6989A-0627-4FC4-AF46-B1A7214F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2098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解释争议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BEE729-A613-4593-B079-940F298F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86050"/>
            <a:ext cx="142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候选人为何没被计数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B08864-11C6-485F-AB41-C29A67FA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00450"/>
            <a:ext cx="655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A4E2D8-C13D-4E63-9F9A-16663AF8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81450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授权人员仍负责最终录用；练了么接管的是重复观察、计数和记录。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7085E8-6158-480A-874E-4C513925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895850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技术失败、遮挡和低置信度统一转人工复核。</a:t>
            </a:r>
          </a:p>
        </p:txBody>
      </p:sp>
    </p:spTree>
    <p:extLst>
      <p:ext uri="{BB962C8B-B14F-4D97-AF65-F5344CB8AC3E}">
        <p14:creationId xmlns:p14="http://schemas.microsoft.com/office/powerpoint/2010/main" val="7218545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A4C91C-59B0-4C8B-9056-52232504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PRODUCT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78AB35-93AE-459B-AB0C-0A082089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一句任务，交付一份可复核结果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690C9C-32BC-49DD-801C-F0E94E3B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AD083E-E6F0-4DB6-AE2E-2B6A2417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F26748-BD20-484E-A9EB-64879E32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71875"/>
            <a:ext cx="466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F3598F-77CE-4F25-90E6-32DB57C2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543300"/>
            <a:ext cx="114300" cy="76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5D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8ACCF9-2A4D-4A26-A782-BD39367F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571875"/>
            <a:ext cx="466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35CB03-FB9E-4F51-B1CC-C40A8F80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43300"/>
            <a:ext cx="114300" cy="76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5D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84F471-2733-4226-9A9A-4140087C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2857500" cy="4000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714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DBE031-7045-453C-B271-940C0473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9FB1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9FB1C7"/>
                </a:solidFill>
                <a:latin typeface="Microsoft YaHei"/>
                <a:ea typeface="Microsoft YaHei"/>
                <a:cs typeface="Microsoft YaHei"/>
              </a:rPr>
              <a:t>HR / EHS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5AC6FB-D6EF-45FA-92B0-53B66476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238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“给今天的一线招聘批次创建深蹲 50 次检测，18:00 前完成。”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B5E51E-D0E3-41CA-96DC-8DE3F60B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rPr>
              <a:t>ClawHive 选择标准、检查权限并发送任务链接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4743A8-D310-44E5-8529-D52A43A4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0065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B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E8EBAB-C9FC-4614-950B-E6B5FF6B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任务发起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7EA654-EC90-490F-8BC3-D63FB6A8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981200"/>
            <a:ext cx="37338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9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17465ef78441a7"/>
          <a:srcRect xmlns:a="http://schemas.openxmlformats.org/drawingml/2006/main" l="11324" t="0" r="113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38600" y="2000250"/>
            <a:ext cx="3695700" cy="2686050"/>
          </a:xfrm>
          <a:prstGeom xmlns:a="http://schemas.openxmlformats.org/drawingml/2006/main" prst="roundRect">
            <a:avLst>
              <a:gd name="adj" fmla="val 4255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00CA1A-6944-448F-B1CA-1B88A0C9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933950"/>
            <a:ext cx="3695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普通摄像头完成实时识别、纠错与完整周期计数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C86D22-2C75-41CA-8384-75516D19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81200"/>
            <a:ext cx="333375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9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25507d9aa24594"/>
          <a:srcRect xmlns:a="http://schemas.openxmlformats.org/drawingml/2006/main" l="15510" t="0" r="155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86750" y="2000250"/>
            <a:ext cx="3295650" cy="2686050"/>
          </a:xfrm>
          <a:prstGeom xmlns:a="http://schemas.openxmlformats.org/drawingml/2006/main" prst="roundRect">
            <a:avLst>
              <a:gd name="adj" fmla="val 4255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44BB74-1F16-495C-924B-E0F1E89F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33950"/>
            <a:ext cx="3295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pass / not_met / inconclusive</a:t>
            </a:r>
          </a:p>
          <a:p xmlns:a="http://schemas.openxmlformats.org/drawingml/2006/main">
            <a:pPr algn="ctr">
              <a:def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结果绑定模型、规则与权重版本</a:t>
            </a:r>
          </a:p>
        </p:txBody>
      </p:sp>
    </p:spTree>
    <p:extLst>
      <p:ext uri="{BB962C8B-B14F-4D97-AF65-F5344CB8AC3E}">
        <p14:creationId xmlns:p14="http://schemas.microsoft.com/office/powerpoint/2010/main" val="18112272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863D9B-EF46-4DEF-B9B9-FA16AE32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LIVE PROOF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EB8595-9F0C-42D4-B704-115EA042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错误发生的当下，系统就解释为什么没计数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3B7CA1-4C8E-4951-8CF0-7713CAAE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4895EC-94F8-4E21-8BC9-919634FB4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4FA66C-C2E1-4600-9167-954204E63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81150"/>
            <a:ext cx="7562850" cy="4552950"/>
          </a:xfrm>
          <a:prstGeom xmlns:a="http://schemas.openxmlformats.org/drawingml/2006/main" prst="roundRect">
            <a:avLst>
              <a:gd name="adj" fmla="val 25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9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c1ea8a2d6c4768"/>
          <a:srcRect xmlns:a="http://schemas.openxmlformats.org/drawingml/2006/main" l="3150" t="0" r="31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00200"/>
            <a:ext cx="7524750" cy="4514850"/>
          </a:xfrm>
          <a:prstGeom xmlns:a="http://schemas.openxmlformats.org/drawingml/2006/main" prst="roundRect">
            <a:avLst>
              <a:gd name="adj" fmla="val 253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E97ABB-E9A6-4921-BA1A-1276EF18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E73A2C-FF4A-493A-9E5F-61746244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6573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阶段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508372-0EE4-49AD-A8D2-40C0E596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574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准备 / 下降 / 底部 / 上升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0C2EFA-B743-49F5-8CD5-AF3A7DA1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71750"/>
            <a:ext cx="276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473495-EFFD-458D-84E8-56BE4CA0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432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4E3205-CF9F-49DD-AA7B-075B81BB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241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纠错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C24FAA-2FB6-4C92-AD95-23A2DA5D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242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膝内扣、深度不足即时提示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B138A2-E8EF-4447-BEFF-9C77F252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38550"/>
            <a:ext cx="276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9E5EDD-2A7D-46D1-8AB1-111DB749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810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7EB0DC-2684-4B36-BCFE-F6FFA581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909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计数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9C7A71-77B7-4F77-918A-6B32EB8A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910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完整动作周期成立才 +1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5A4F77-AF81-47F4-830F-5B7F737E9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705350"/>
            <a:ext cx="276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D8DE2D-A342-4E72-818E-21D6515C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876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D43558-BE45-4172-B9E1-67429147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8577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降级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85E1BD-6951-43CD-8140-299BDFBB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2578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低置信度进入人工复核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E4F51B-DFFE-4FF1-8F3F-78FF04F6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9626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视觉、文字、语音三条反馈通道同时工作</a:t>
            </a:r>
          </a:p>
        </p:txBody>
      </p:sp>
    </p:spTree>
    <p:extLst>
      <p:ext uri="{BB962C8B-B14F-4D97-AF65-F5344CB8AC3E}">
        <p14:creationId xmlns:p14="http://schemas.microsoft.com/office/powerpoint/2010/main" val="10291348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E15DD9D-FB9D-4446-A609-01144EC7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CORE INNOVATION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6D65A4-3751-4126-9254-963C04A6B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一个 Skill，管理一项可持续进化的模型资产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769228-16F1-4722-986E-3C8E2082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E76975-51DF-452D-82C6-7E0C8805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6DE726-2B62-41FE-B519-BF40F92D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首次调用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DBB39A-56D0-45F9-8EC7-B4893EFD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486025"/>
            <a:ext cx="771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735276-4B2A-42F9-B952-2CCDBA5B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457450"/>
            <a:ext cx="114300" cy="76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446FD9-7773-4746-BBDE-7DD8C868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486025"/>
            <a:ext cx="771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30B19E-FCAF-44B0-B74C-86397D6C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457450"/>
            <a:ext cx="114300" cy="76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CB1594-836A-4AEB-A683-F730F61E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486025"/>
            <a:ext cx="771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2CB776-AC5E-4EE9-94D2-17E69B32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457450"/>
            <a:ext cx="114300" cy="76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32948B-78F0-4919-88F6-8C9E7DC1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809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81DCE5-EFB2-4A52-B750-EF6A1B7C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数据与标准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F7353E-6FE5-4623-91C4-BBDCBD1F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147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许可检查</a:t>
            </a:r>
          </a:p>
          <a:p xmlns:a="http://schemas.openxmlformats.org/drawingml/2006/main">
            <a:pPr algn="l"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48 帧切窗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9654A8-DCF6-477B-9838-83CB1DB7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095500"/>
            <a:ext cx="1809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7B0DD4-72AF-46FD-A424-1D3AC884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28600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训练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15F8B0-20CE-4B5D-B9D6-7FF98E19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647950"/>
            <a:ext cx="147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通用模型起点</a:t>
            </a:r>
          </a:p>
          <a:p xmlns:a="http://schemas.openxmlformats.org/drawingml/2006/main">
            <a:pPr algn="l"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企业脱敏样本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5E123E-1DAD-4204-BDE5-1F3115BC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095500"/>
            <a:ext cx="1809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781147-7E9A-4312-B130-1E421855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28600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评估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B5CBE8-A775-41D6-B518-26333077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647950"/>
            <a:ext cx="147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验证指标比较</a:t>
            </a:r>
          </a:p>
          <a:p xmlns:a="http://schemas.openxmlformats.org/drawingml/2006/main">
            <a:pPr algn="l"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选择最优 checkpoint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BCF853-A150-42A5-B5CD-12A6C2F7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095500"/>
            <a:ext cx="1809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C436F4-AF28-40CB-9E5A-A6CFD6B6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28600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Best 权重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3127CC-507A-4171-B712-E9310848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647950"/>
            <a:ext cx="147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D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DDE8FF"/>
                </a:solidFill>
                <a:latin typeface="Microsoft YaHei"/>
                <a:ea typeface="Microsoft YaHei"/>
                <a:cs typeface="Microsoft YaHei"/>
              </a:rPr>
              <a:t>tenant + standard</a:t>
            </a:r>
          </a:p>
          <a:p xmlns:a="http://schemas.openxmlformats.org/drawingml/2006/main">
            <a:pPr algn="l">
              <a:defRPr sz="1050" b="0" i="0">
                <a:solidFill>
                  <a:srgbClr val="DD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DDE8FF"/>
                </a:solidFill>
                <a:latin typeface="Microsoft YaHei"/>
                <a:ea typeface="Microsoft YaHei"/>
                <a:cs typeface="Microsoft YaHei"/>
              </a:rPr>
              <a:t>version + hash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05D7A3-B7EA-4F0E-A8C3-D4D33623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81200"/>
            <a:ext cx="15811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714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9D27A7-477B-45ED-BC3D-4018378F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2098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best_weight_id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541486-F15B-402B-9496-501B89BD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647950"/>
            <a:ext cx="1314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调用、审计、回滚</a:t>
            </a:r>
          </a:p>
          <a:p xmlns:a="http://schemas.openxmlformats.org/drawingml/2006/main">
            <a:pPr algn="ctr">
              <a:def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共用同一资产锚点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4D41D6-F0E4-492B-ABAF-22444BFB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后续调用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CE00EF-01A8-4312-832C-09AFB40C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657725"/>
            <a:ext cx="771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F61492-857D-4054-B4C7-365F6158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629150"/>
            <a:ext cx="114300" cy="76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25DAE5-17D3-4087-B0FE-9F9CDB29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657725"/>
            <a:ext cx="771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336AEA-2D93-49FA-83EE-DE20FE96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4629150"/>
            <a:ext cx="114300" cy="76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037D26-6F95-4E1F-A1A2-BD5D7B69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657725"/>
            <a:ext cx="771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6F45B7-8B96-4C0B-A36F-B99924B0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4629150"/>
            <a:ext cx="114300" cy="76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2EDDF4-EF4C-4C8E-9AFC-F40934B1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809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9F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81A400-F6C4-435E-8D60-C7EBD675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B6814E-7F05-4365-9D96-896CD953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965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传入 best_weight_id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820BAC-D185-44C8-B507-970A992D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267200"/>
            <a:ext cx="1809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9F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9FF4F6-D9CB-4D57-9FF9-9C690969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438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直接加载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3562A48-5A5B-4EB3-8ED2-FEB7C505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81965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无需重新训练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CD9F14A-CFE7-4E3D-809C-7283DD67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4267200"/>
            <a:ext cx="1809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9F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0B3C20F-3175-4F75-B703-D8DA4048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438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实时推理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DA2669-DD9F-4F10-BF9C-782D8537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81965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识别 · 计数 · 纠错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C8DCEEF-0CB1-4BA6-B728-A95F0B8D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267200"/>
            <a:ext cx="1809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2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E5243A7-F255-487A-B2F5-8B3AF1A7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4438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结构化报告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C9DAAF3-A545-4E35-A3E5-97032E88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481965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DF8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DDF8EE"/>
                </a:solidFill>
                <a:latin typeface="Microsoft YaHei"/>
                <a:ea typeface="Microsoft YaHei"/>
                <a:cs typeface="Microsoft YaHei"/>
              </a:rPr>
              <a:t>结论 · 版本 · 复核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2A5A2E7-9410-4401-A584-6CF041FF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171950"/>
            <a:ext cx="15811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5336C9E-EB03-4E35-A09D-C7F44190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4005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更优才升级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A4DA273-ACDE-40F4-B102-AC531699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8196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旧版保留可回滚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DC0E011-F800-4F02-8B24-43632E23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这套生命周期把个人经验、企业数据和模型权重沉淀为可复用资产。</a:t>
            </a:r>
          </a:p>
        </p:txBody>
      </p:sp>
    </p:spTree>
    <p:extLst>
      <p:ext uri="{BB962C8B-B14F-4D97-AF65-F5344CB8AC3E}">
        <p14:creationId xmlns:p14="http://schemas.microsoft.com/office/powerpoint/2010/main" val="7498244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3044EE-5FF4-43CB-B6C9-7756B590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PLATFORM FIT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92A021-7230-4A5D-897A-8517C070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ClawHive 管企业工作流，练了么负责看懂动作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F5FD9C-3BE0-4E27-8133-22AD1B4E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E3788D-51EE-42EF-A9DB-2910CF16B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88DE7A-D74A-475B-8050-0AB22910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ClawHive 能力层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C16605-C68E-4C77-912F-1E926E4D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5811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练了么的企业视觉能力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BD64AF-A159-4DE4-8655-F55675F7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5811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当前交付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C8D18E-85EF-4788-A890-F47E736E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BF1155-21E3-43D9-AADA-A6C77461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模型层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DAF58B-C88D-4B3D-B697-54EBE944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5740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RTMPose / ST-GCN / Best 权重按任务加载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C209F6-3491-41A8-9E9D-6495611F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5740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本地模型已就绪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CCD57F-C69B-4058-BE8D-0565740D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3DFD8F-6092-4AF3-9509-372D7A1F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连接层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5312A7-2FC0-457D-9678-024C7AB2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384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IM / OA 发起任务，完成后回写招聘台账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A34D49-0CA3-47DC-A81E-E51DA172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3845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接口最后接线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19A0D6-DE01-4280-BDE3-0883F9DD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91CD4E-6BF9-4AE3-8A8A-C716C75A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安全层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D5C339-7990-4AD0-AE8B-E8929F4D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1950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租户权限、最小回传、人工复核、版本审计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FA8A95-DD96-4ED9-AA88-6AD70F55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1950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契约已定义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C89406-D455-49B6-99BB-6B93D2AE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141FB5-D427-4C41-A365-3549BF0D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知识层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779265-FF57-4FD2-AE5B-B266737C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4005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岗位体能标准与 EHS 动作标准版本化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1D81EC-992E-4F06-9D11-8431C97A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0055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首个标准已落盘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399EB4-34E4-493B-938F-806C6643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61E2A1-2ED4-4249-9CB5-048B2852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资产层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DB64A6-EF7B-4042-B86A-A4B22B16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18160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Skill + 权重 + 规则 + 错误事件持续复用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E246EB-F1B1-48F0-A013-0A1A753A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18160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Skill 包已完成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93ED44-3FCE-4632-B749-214BFCB9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AFC8FE-F71D-46C9-A8CE-6F8A0DF4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平台提供企业级治理与分发，Skill 把现实世界的动作转成结构化事件。</a:t>
            </a:r>
          </a:p>
        </p:txBody>
      </p:sp>
    </p:spTree>
    <p:extLst>
      <p:ext uri="{BB962C8B-B14F-4D97-AF65-F5344CB8AC3E}">
        <p14:creationId xmlns:p14="http://schemas.microsoft.com/office/powerpoint/2010/main" val="17486916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245ADA9-B8B8-4073-A54C-3C991342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TECH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60283B-C140-4BA7-B114-6FD1781A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普通摄像头到审计结论，共五个可替换模块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EE39FB-771B-452B-AC2C-0AF1E2F3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7FB8C2-2F77-4F03-AA51-F3F1DE39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2A06A7-4DE8-41A0-9782-0C5EA853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733675"/>
            <a:ext cx="466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CCDB42-DBC8-4FBE-9755-F690960C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705100"/>
            <a:ext cx="114300" cy="76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B0A51E-5FDD-409D-BE17-3F3BE08B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33675"/>
            <a:ext cx="466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D1A855-23B4-41AA-9060-1A6898B2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705100"/>
            <a:ext cx="114300" cy="76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6BB604-5F91-4118-A5E3-28B6BA07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33675"/>
            <a:ext cx="466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FCB698-C525-4A56-9920-B51AB6A2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05100"/>
            <a:ext cx="114300" cy="76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A379D1-66BF-468D-9834-36DD447B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33675"/>
            <a:ext cx="466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8BBC1F-4E38-4140-A67F-9574B880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05100"/>
            <a:ext cx="114300" cy="76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631BF6-3E5E-47BF-8C6D-FFCD0B85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16383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7BBB34-F8D8-4724-A076-7997E8AC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6B278D-92E9-43C7-BE14-4E6B5DFD4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摄像头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5D44B5-27C8-4233-AEF4-0AE9E204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浏览器逐帧输入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AC04B8-75DC-4BB6-8C58-F98B141F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133600"/>
            <a:ext cx="16383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C2507A-4C6B-43A0-9866-39C16067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860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9DF340-6417-49F8-BFA6-F02AAA1E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717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RTMPose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ABAC65-54CE-4367-9F75-0C061359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527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17 关键点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72B473-5019-4AE1-B260-702D3D84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133600"/>
            <a:ext cx="16383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9F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4420F2-EC12-4307-BFEF-4AD7EBC6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860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7CCE09-041B-409D-9F1F-B996C5BC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717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ST-GCN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5BAB07-710F-4E8D-A5D6-0C21504BF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527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11 类 + Best 权重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9B126B-CE06-4001-A823-1E18AA98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33600"/>
            <a:ext cx="16383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9F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EF139F-0C7A-4FB0-8701-CAB6BE52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860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4529B3-3F99-4C8D-881C-4F20017F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717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规则引擎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7447E8-5E87-4723-A73F-032D9D82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527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阶段 · 几何 · 去抖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CD24FF-CF0D-46FC-87F1-51B75D59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33600"/>
            <a:ext cx="16383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C68B8C-BE42-4DFD-8DF2-25BC7B92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425D3E-D45B-4C0B-9F84-5F2950A3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717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报告与复核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4E3AAC-CCC1-4916-A903-BCFDD535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decision + version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C5DF02-E17D-48C4-A2CC-9650F865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52197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0714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F6A62D-03AE-4BFB-97BE-192C67F5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核心判定链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AF0110-1194-4BC7-8AB0-430148E1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291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姿态、动作、阶段、计数与错误码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DE1897-C5B6-4A2C-9237-CB5B4F04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rPr>
              <a:t>断网或生成式模型不可用时仍能继续工作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528CFC-B936-45A3-8800-E61A5A97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00500"/>
            <a:ext cx="52197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722D234-73F1-42E2-87DB-C0A383AF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481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生成式模型的职责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CD48F29-09A3-4828-9A3B-A8BCDF39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291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解释、编排与友好文案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3B9A717-CF54-4CBE-9C71-9F58CAA2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1435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不接收原始人体画面，不独立做录用结论</a:t>
            </a:r>
          </a:p>
        </p:txBody>
      </p:sp>
    </p:spTree>
    <p:extLst>
      <p:ext uri="{BB962C8B-B14F-4D97-AF65-F5344CB8AC3E}">
        <p14:creationId xmlns:p14="http://schemas.microsoft.com/office/powerpoint/2010/main" val="13588564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F42C1F-9F3A-4C85-BABC-04AAB5F0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VERIFIABLE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82BA47-F94A-4E92-9754-DCCE046C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模型、数据、训练与测试都能当场核验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BB8A48-05DD-4F16-AAC9-01EAA303C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A459A9-917D-4F96-A294-23E5CF59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6191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ee70e157b6f42a7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4BC6D3-DE9A-4FE6-9799-F10CCD0B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752600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BDDAA4-4EC0-4C33-9EAC-9C23055E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3622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名真实受试者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AA165F-91A8-4D6F-AB91-E4BA243A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6860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MM-Fit 数据源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A1211D-8D84-4359-8D50-D4961B79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5260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8,898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554868-B274-499C-9C4E-042E5C27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3622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个训练窗口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2BFCC7-2B39-410A-ABB9-143CE47D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68605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48 帧 × 17 关节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6E4E62-ECC0-4297-A311-9C518994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314700"/>
            <a:ext cx="413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E1CA9A-B26E-41E9-94E8-BF9364AD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81400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2342A4-BBCD-48BB-B923-6C381E92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191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类动作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D8AF29-0A84-4AE3-861F-A4171E9E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5148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ST-GCN 分类模型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E2602D-0E13-4761-AD16-D6885D8D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58140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93.15%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F80A37-98AE-4235-8346-AD309E74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910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离线验证准确率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15E3C7-012B-4B38-8151-085870B4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51485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Epoch 5 / 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F0B45E-4D24-41D4-AAC7-CEB6CBA8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334000"/>
            <a:ext cx="41338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714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B8E5CB-0FB3-45A7-9AFC-C30AE0BC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476875"/>
            <a:ext cx="3790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23 项自动测试通过 · 无 GPU 端到端 smoke passed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8ACFD4-0BE1-418C-BDF0-AACCDBA1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证据边界：93.15% 来自离线验证集；企业现场泛化仍需并行试点验证。</a:t>
            </a:r>
          </a:p>
        </p:txBody>
      </p:sp>
    </p:spTree>
    <p:extLst>
      <p:ext uri="{BB962C8B-B14F-4D97-AF65-F5344CB8AC3E}">
        <p14:creationId xmlns:p14="http://schemas.microsoft.com/office/powerpoint/2010/main" val="18154533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032CB7-AABD-45C8-B915-FD5E7CD9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ENTERPRISE TRUST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FF319E-136E-4986-B7DE-DE0F4C88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把错误送去复核，比给出自信的错判更重要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8C2CEA-EF7A-43C7-84C6-AE0A7E09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3B879D-0111-4796-A828-0DAF786A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A8F42D-579E-48B0-9C91-822755B9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3562350" cy="436245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0714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7BC724-86CA-4C77-B26A-06F6E07D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FAIL CLOSED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F41ADB-4C2E-4AA1-B63E-B5F9D6D2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看不清，</a:t>
            </a:r>
          </a:p>
          <a:p xmlns:a="http://schemas.openxmlformats.org/drawingml/2006/main">
            <a:pPr algn="l">
              <a:defRPr sz="34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就不下结论。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8A93E9-DE32-4943-9C4B-E1F33305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2781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rPr>
              <a:t>遮挡、无人入镜、模型超时或低置信度统一返回 inconclusive，并要求人工复核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F6483D-57B0-4D15-ABB7-937485A81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最终录用、处分与医疗决定由授权人员作出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4346B0-7682-4801-A846-321268E4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52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09A984-AFE0-4758-8A21-EC6D0FA0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7145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本地推理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8752F4-EA24-4E42-81DC-C1E52F89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33550"/>
            <a:ext cx="371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原始人体画面不发送给生成式大模型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3DA8C0-18CC-4154-9077-4A7186AB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95550"/>
            <a:ext cx="657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0ADBAD-9C90-47B4-99A5-9668B09D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003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4F6EDE-D3BF-43CF-A7BD-2CF01C40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7622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最小留存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70C642-B0D1-45D7-9F53-D1D86129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81300"/>
            <a:ext cx="371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实时帧默认不长期保存，只回传必要事件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C51C39-3C3B-4C44-A63D-828CB661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43300"/>
            <a:ext cx="657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FF90A2-8E99-41C1-AC53-9EF8B2CD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481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469947-A2FA-4A6C-B9A5-CEC36560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8100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版本审计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03146C-5063-420D-9F05-6ABDF37A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29050"/>
            <a:ext cx="371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模型、规则、Best 权重和结论一一绑定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8650BE-7BFD-4034-8FC9-7B7ABFFF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91050"/>
            <a:ext cx="657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3B7241-4714-4F62-91A8-CD6FAD0EA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95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D6A098-1F08-4BA9-A0D3-49BB26D7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8577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人工兜底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0DB2E3-927B-479A-A207-A353EC7E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76800"/>
            <a:ext cx="371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争议、低置信度和技术失败进入复核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585032-60D5-4D03-A1F1-034C1A1F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88645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9C0D2C-6FAE-4ADD-8B5F-1A36CCE9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905500"/>
            <a:ext cx="876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2B41E3-41EC-4365-831A-0F98C54C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88645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DDF6C2-9A75-465A-A409-78141E42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905500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not_met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AE1129-2DC4-4154-905D-B779CF9F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886450"/>
            <a:ext cx="1466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0F0430-6945-4D70-B626-EF3934E8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905500"/>
            <a:ext cx="1466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needs_retraining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DBCE88-A3F2-42DA-88A5-A9AE38F0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886450"/>
            <a:ext cx="1314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4E563E-E7AB-4F57-86C4-4DEF8D69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905500"/>
            <a:ext cx="1314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rPr>
              <a:t>inconclusive</a:t>
            </a:r>
          </a:p>
        </p:txBody>
      </p:sp>
    </p:spTree>
    <p:extLst>
      <p:ext uri="{BB962C8B-B14F-4D97-AF65-F5344CB8AC3E}">
        <p14:creationId xmlns:p14="http://schemas.microsoft.com/office/powerpoint/2010/main" val="16626167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F79268-8EC6-4033-B20C-E926F5A1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BUSINESS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C19EA7-CD87-4F4A-8AE1-F708C7C9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招聘筛选是付费入口，在岗训练打开续费空间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D9CDBC-85CE-4913-8C45-53966085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609B61-D09C-48BB-B4FD-17A5DB3A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FBD273-073A-437B-9586-9B4579E8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首个 ICP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545E60-C11E-4AD5-8E72-B5C86C69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4857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有明确岗位体能项目、招聘旺季需要批量检测的一线制造、仓储与服务企业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8791BE-E5E4-4377-A864-2ABDC240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买方：招聘负责人</a:t>
            </a:r>
          </a:p>
          <a:p xmlns:a="http://schemas.openxmlformats.org/drawingml/2006/main">
            <a:pPr algn="l">
              <a:defRPr sz="13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共同决策：EHS / IT / 用工合规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D9B4EA-92DA-45B2-9AA3-3470228C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48577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E15B3B-4074-495E-88CD-03F727589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ROI 用现场数据计算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E09EED-CAD2-40FB-BE80-2123C16E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95850"/>
            <a:ext cx="381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157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每百人节省考官工时</a:t>
            </a:r>
          </a:p>
          <a:p xmlns:a="http://schemas.openxmlformats.org/drawingml/2006/main">
            <a:pPr algn="l">
              <a:def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单次检测成本</a:t>
            </a:r>
          </a:p>
          <a:p xmlns:a="http://schemas.openxmlformats.org/drawingml/2006/main">
            <a:pPr algn="l">
              <a:def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AI / 双人复核计数一致性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BD2D3A-32B7-428D-B62C-5BB79C28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764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LAND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656215-E787-42D8-BFAF-50C8D0EE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6764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EXPAND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2B492B-CBC6-4FE0-94F7-99342C0F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76525"/>
            <a:ext cx="1152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7222FF-76D3-42F4-BB2A-3DAD236C9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47950"/>
            <a:ext cx="114300" cy="76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5D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FBE2A2-45FC-434B-8531-30C5D03F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76525"/>
            <a:ext cx="1152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5FF32B-9E09-48AB-9829-0BC68B73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47950"/>
            <a:ext cx="114300" cy="76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5D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803BE3-9435-4F39-8F0D-80776430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38350"/>
            <a:ext cx="1524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155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B96340-44C6-456E-BB41-E55B6C25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66950"/>
            <a:ext cx="1219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招聘 / 转岗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1B294D-AD4C-41A3-8405-B27D9DC4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9560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按检测次数</a:t>
            </a:r>
          </a:p>
          <a:p xmlns:a="http://schemas.openxmlformats.org/drawingml/2006/main">
            <a:pPr algn="ctr"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或私有化年费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E09FA2-BC32-465B-A10E-7F5CB6F3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38350"/>
            <a:ext cx="1524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155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31AC57-5006-47EC-850B-F7772158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66950"/>
            <a:ext cx="1219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22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入职动作 SOP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59B0C0-1F06-4FC9-8DBF-1DBE61EE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9560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岗位标准订阅</a:t>
            </a:r>
          </a:p>
          <a:p xmlns:a="http://schemas.openxmlformats.org/drawingml/2006/main">
            <a:pPr algn="ctr"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与周期复训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0B8504-A292-4E1D-BEFD-729D5814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038350"/>
            <a:ext cx="1524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E9FBF4"/>
          </a:solidFill>
          <a:ln xmlns:a="http://schemas.openxmlformats.org/drawingml/2006/main" w="19050">
            <a:solidFill>
              <a:srgbClr val="12B98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0C8DD0-43AC-4BDA-98AC-C9A6C46C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266950"/>
            <a:ext cx="1219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167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安全与工效训练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5D9C9A-E2A4-4AA5-BDA7-8ED682FF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89560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活跃员工 / 岗位</a:t>
            </a:r>
          </a:p>
          <a:p xmlns:a="http://schemas.openxmlformats.org/drawingml/2006/main">
            <a:pPr algn="ctr"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Skill 调用结算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F2B563-7E75-4485-AB81-CD55E2B0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00500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3F9FF7-5274-4890-B828-BAEA8381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24350"/>
            <a:ext cx="533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99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同一终端、账号、权限、Skill 与审计资产持续复用；新增的是经过专家确认的岗位标准。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4692F8-8A77-41DC-8FD8-45304640A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429250"/>
            <a:ext cx="533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长期壁垒：版本化标准 + 真实错误事件数据 + 复核闭环 + 企业连接资产</a:t>
            </a:r>
          </a:p>
        </p:txBody>
      </p:sp>
    </p:spTree>
    <p:extLst>
      <p:ext uri="{BB962C8B-B14F-4D97-AF65-F5344CB8AC3E}">
        <p14:creationId xmlns:p14="http://schemas.microsoft.com/office/powerpoint/2010/main" val="9912584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C4E20C-448A-4D5C-AD66-1B6F4382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PILOT &amp; 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9E3944-0B4F-4486-91D5-DF272275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两到四周，把技术演示变成采购证据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48015B-F338-4C64-A925-A72C706D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17E81E-A55F-41F5-A7B6-D4C4F6DE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0DFD50-A6CA-4172-B07F-F0F1D018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43225"/>
            <a:ext cx="6000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21E181-62C7-44BD-A222-9150F269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14650"/>
            <a:ext cx="114300" cy="76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5D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F53517-2718-4AC5-8F90-3A112B02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43225"/>
            <a:ext cx="6000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B55BEC-854F-4798-AC0B-67AD9FE6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14650"/>
            <a:ext cx="114300" cy="76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5D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8719D3-0FD9-49A9-A50B-A3167054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1051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CAD9AE-1C5F-49B2-9165-69F4C0D0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35B213-6FBA-47A6-8E0B-B6E6830A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并行运行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11F542-17CD-4F70-8F86-2D89D2C6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861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单考场 · 单项目 · 单批次</a:t>
            </a:r>
          </a:p>
          <a:p xmlns:a="http://schemas.openxmlformats.org/drawingml/2006/main">
            <a:pPr algn="l"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AI 与人工同时计数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22E631-2EAE-4C0A-A619-B5E53D92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24050"/>
            <a:ext cx="34099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155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5E1228-0721-4938-85DC-0DF76032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33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C64382-68D8-409D-9D39-9C561698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71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验证指标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A28451-5E7F-4F01-9114-A286736B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861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考官工时 · 一致性 · 需复核率</a:t>
            </a:r>
          </a:p>
          <a:p xmlns:a="http://schemas.openxmlformats.org/drawingml/2006/main">
            <a:pPr algn="l"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争议时长 · 候选人完成时长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730A4A-6C65-4AB7-A803-66AB2FE7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24050"/>
            <a:ext cx="31051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A40DBF-BAEC-4F46-828B-6FE311EE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33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AA44CF-9823-46C2-8BD4-5B1033BF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717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进入采购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46472F-0611-45A4-A3C8-A480E4D2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861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达到双方约定门槛后</a:t>
            </a:r>
          </a:p>
          <a:p xmlns:a="http://schemas.openxmlformats.org/drawingml/2006/main">
            <a:pPr algn="l"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再进入正式筛选与岗位扩展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BE1102-3335-4906-8246-8B2B3399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赛场可核验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E5CBC7-C240-4318-96BD-A92E89C0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A8E415-F4B8-4403-BA7D-16D5BC71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9585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Web 实时教练与认证页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E2B7C1-0D62-4D15-BC73-2E161425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9149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32713B-90FA-43E4-A671-61073FF61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89585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本地模型权重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BD1F5F-4ECA-4CA5-88B9-6F944F37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9149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661304-1F1B-4069-B4EA-4096BB30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9585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规则与 Ghost Coach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C00307-3150-4172-AE24-2342B2BE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9149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22921C-21C4-4789-ADAD-E60DBE07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89585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Skill 包与契约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9AE47F-E96B-454B-B300-CDF5B9CF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9149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526E27-7DA6-4AC3-8CAF-2FF8A4E0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89585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自动测试与 smoke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0CCCC6-8B31-4338-A3D2-70C7D125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790EEC-C36D-4CCF-B9E9-B9CBBD9E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最后接线：ClawHive 任务创建 · request_id 幂等 · 租户审计 · 结果回写</a:t>
            </a:r>
          </a:p>
        </p:txBody>
      </p:sp>
    </p:spTree>
    <p:extLst>
      <p:ext uri="{BB962C8B-B14F-4D97-AF65-F5344CB8AC3E}">
        <p14:creationId xmlns:p14="http://schemas.microsoft.com/office/powerpoint/2010/main" val="20126544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35F908-F749-4A44-8D02-905B42D6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47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B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39AA73-604D-41C2-BCED-4C33457D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THE 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4C46B3-59AD-4AF2-8E92-2C11D9BF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8382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让第一个“看得懂动作”的</a:t>
            </a:r>
          </a:p>
          <a:p xmlns:a="http://schemas.openxmlformats.org/drawingml/2006/main">
            <a:pPr algn="l">
              <a:defRPr sz="4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ClawHive 数字员工上岗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0B12AB-624D-4A84-8784-9A88C265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rPr>
              <a:t>进入 ClawHive 企业级安全技能市场</a:t>
            </a:r>
          </a:p>
          <a:p xmlns:a="http://schemas.openxmlformats.org/drawingml/2006/main">
            <a:pPr algn="l">
              <a:defRPr sz="2100" b="1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rPr>
              <a:t>与一家制造 / 仓储企业完成首个并行试点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FF89D2-2EC8-4F9B-AC5A-3EE4766A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405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302BAB-700A-4449-B8A4-23E9A7DC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一个 Skill 进场，沉淀一套企业可复用的视觉能力。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9A7E20-DBBB-4625-82BA-8EB1AC73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9FB1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9FB1C7"/>
                </a:solidFill>
                <a:latin typeface="Microsoft YaHei"/>
                <a:ea typeface="Microsoft YaHei"/>
                <a:cs typeface="Microsoft YaHei"/>
              </a:rPr>
              <a:t>练了么 · Enterprise Pose Coach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E6D395-A24E-4D29-AE60-F2EF7392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857250"/>
            <a:ext cx="1371600" cy="51435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B20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456423-CF7C-44BB-AB2E-5763630E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200150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看见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797301-C6BB-45F4-9E31-C0E1E311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752600"/>
            <a:ext cx="80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405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F1F207-E9C0-48B6-8EF3-1D8A6293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133600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A03818-8DF8-442C-9B00-8FA1794F8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686050"/>
            <a:ext cx="80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405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D85BDC-9F8D-4D04-BFEB-AFF8D8E7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067050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纠正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F1A628-BC2C-40E7-A223-739D8334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619500"/>
            <a:ext cx="80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405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0B93B8-89EF-47BB-83F9-511C9183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000500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计数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3E97DE-D6C1-4025-9D9F-27BC50C8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552950"/>
            <a:ext cx="80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405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0FEEFB-AB02-4008-85E2-75B4AF717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933950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留痕</a:t>
            </a:r>
          </a:p>
        </p:txBody>
      </p:sp>
    </p:spTree>
    <p:extLst>
      <p:ext uri="{BB962C8B-B14F-4D97-AF65-F5344CB8AC3E}">
        <p14:creationId xmlns:p14="http://schemas.microsoft.com/office/powerpoint/2010/main" val="4898221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7D6808-F460-4AF1-AD92-8C089063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APPENDIX · SAMPLES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E719D2-4EB4-478E-B3C7-F0F8DC0B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备份｜三组 Sample 覆盖落地、复用与扩张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7D5524-1A0B-47E9-A3DD-7518198A4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0B30F4-55FE-4A59-BDA5-4E00F9AD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7843FC-3790-40DD-9AEE-231165F4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46C246-B5EB-4135-A2BD-470B4C4D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招聘深蹲 50 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2B7C0C-E890-4D98-B70E-2EBE0CC1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3143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7E792E-0C7A-4385-B890-CE8F4C22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266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实时阶段</a:t>
            </a:r>
          </a:p>
          <a:p xmlns:a="http://schemas.openxmlformats.org/drawingml/2006/main">
            <a:pPr algn="l"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即时纠错</a:t>
            </a:r>
          </a:p>
          <a:p xmlns:a="http://schemas.openxmlformats.org/drawingml/2006/main">
            <a:pPr algn="l"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完整周期计数</a:t>
            </a:r>
          </a:p>
          <a:p xmlns:a="http://schemas.openxmlformats.org/drawingml/2006/main">
            <a:pPr algn="l"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认证记录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DB05FD-9CBB-4A1F-ACC8-682BAF1C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2915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A23A1E-3568-449A-8BEA-2DBC47E7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4820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当前最强闭环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7993DA-54AA-4524-A934-059BEEAB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764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A88DBE-316F-40F8-9B26-08ECCA15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955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多项目体能组合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F97B5F-BFF9-4311-B39D-EA468363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24150"/>
            <a:ext cx="3143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BF51E9-CBDB-4B63-ABEF-6773C859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09900"/>
            <a:ext cx="266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11 类识别</a:t>
            </a:r>
          </a:p>
          <a:p xmlns:a="http://schemas.openxmlformats.org/drawingml/2006/main">
            <a:pPr algn="l"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6 类专项规则</a:t>
            </a:r>
          </a:p>
          <a:p xmlns:a="http://schemas.openxmlformats.org/drawingml/2006/main">
            <a:pPr algn="l"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通用反馈降级</a:t>
            </a:r>
          </a:p>
          <a:p xmlns:a="http://schemas.openxmlformats.org/drawingml/2006/main">
            <a:pPr algn="l"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Best 权重复用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D5F3F2-DE80-44D6-820C-8FCDB232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62915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645A00-651F-45C8-9FFA-8A46B826F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64820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组合判定待补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93FAFC-CD8B-4172-B26C-9706B336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764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360A96-22A1-4437-886A-9FCC8262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955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入职后动作复训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E58D12-96AC-4A2A-9B08-4250799E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24150"/>
            <a:ext cx="3143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5817C7-0F69-4EDE-B6C0-81CBFA52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09900"/>
            <a:ext cx="266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深蹲代理动作</a:t>
            </a:r>
          </a:p>
          <a:p xmlns:a="http://schemas.openxmlformats.org/drawingml/2006/main">
            <a:pPr algn="l"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会话总结</a:t>
            </a:r>
          </a:p>
          <a:p xmlns:a="http://schemas.openxmlformats.org/drawingml/2006/main">
            <a:pPr algn="l"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同一终端与权限</a:t>
            </a:r>
          </a:p>
          <a:p xmlns:a="http://schemas.openxmlformats.org/drawingml/2006/main">
            <a:pPr algn="l"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ClawHive 任务编排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BBC3F4-8838-4F84-BB6D-84D9DF11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2915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DEBE93-5216-4C3C-820B-8C56BC03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4820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工业数据待校准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87F20F-19B0-481E-967D-E0EF21FD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演示纪律：S3 只展示扩张路径，不把健身数据训练的模型包装成生产级工业安全识别。</a:t>
            </a:r>
          </a:p>
        </p:txBody>
      </p:sp>
    </p:spTree>
    <p:extLst>
      <p:ext uri="{BB962C8B-B14F-4D97-AF65-F5344CB8AC3E}">
        <p14:creationId xmlns:p14="http://schemas.microsoft.com/office/powerpoint/2010/main" val="127350073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418553-C9F9-4C9E-9E6E-D923B438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6F3273-4FCB-498C-8172-B4550524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Skill 契约让任务可编排、可对账、可审计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98F94D-A5FD-4D3D-AB3B-811829FC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B7C5AF-E4BC-420B-BC46-56E5AEEC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3F0D89-3F51-431E-892A-87E8802B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95D04E-3CB3-4B23-B9D1-F9E16CD0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504825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0714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5E1874-C2BB-4C37-A3EA-52A44EC5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45148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request_id       req-demo-001</a:t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tenant_id        factory-demo</a:t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standard_id      RECRUIT_SQUAT_50_V1</a:t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best_weight_id   bw-factory-A-v1</a:t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exercise         squats</a:t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target_reps      50</a:t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retention_policy raw_frames: none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7AE22C-C045-4221-A274-B5C8FE8E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6573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OUTPUT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B257D1-4BC5-4859-A7FE-2BE4B5A3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38350"/>
            <a:ext cx="504825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E9F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8F3192-BE5E-4BE4-AA9F-572E99F1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43150"/>
            <a:ext cx="45148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decision            pass</a:t>
            </a:r>
          </a:p>
          <a:p xmlns:a="http://schemas.openxmlformats.org/drawingml/2006/main">
            <a:pPr algn="l">
              <a:defRPr sz="142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valid_rep_count     50</a:t>
            </a:r>
          </a:p>
          <a:p xmlns:a="http://schemas.openxmlformats.org/drawingml/2006/main">
            <a:pPr algn="l">
              <a:defRPr sz="142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invalid_rep_count   3</a:t>
            </a:r>
          </a:p>
          <a:p xmlns:a="http://schemas.openxmlformats.org/drawingml/2006/main">
            <a:pPr algn="l">
              <a:defRPr sz="142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review_status       not_required</a:t>
            </a:r>
          </a:p>
          <a:p xmlns:a="http://schemas.openxmlformats.org/drawingml/2006/main">
            <a:pPr algn="l">
              <a:defRPr sz="142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model_version       ...</a:t>
            </a:r>
          </a:p>
          <a:p xmlns:a="http://schemas.openxmlformats.org/drawingml/2006/main">
            <a:pPr algn="l">
              <a:defRPr sz="142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rule_version        RECRUIT_SQUAT_50_V1</a:t>
            </a:r>
          </a:p>
          <a:p xmlns:a="http://schemas.openxmlformats.org/drawingml/2006/main">
            <a:pPr algn="l">
              <a:defRPr sz="142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best_weight_id      bw-factory-A-v1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DC08C7-DF01-48E7-BE3A-8E5AF1FE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同一 tenant_id + request_id 重复调用返回同一 task_id；inconclusive 必须进入 required review。</a:t>
            </a:r>
          </a:p>
        </p:txBody>
      </p:sp>
    </p:spTree>
    <p:extLst>
      <p:ext uri="{BB962C8B-B14F-4D97-AF65-F5344CB8AC3E}">
        <p14:creationId xmlns:p14="http://schemas.microsoft.com/office/powerpoint/2010/main" val="25068689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906D36-84B2-45B8-A8A6-ACD2F352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APPENDIX · 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3B82AE-5B79-4510-A592-8DB7E240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备份｜当前证据、最后缺口与风险处置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1E3EEB-A1B0-4AB9-8E26-0BB141F5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FE8C25-B356-4AB2-8621-EF622E1C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B0EA8-3B23-4996-88DF-5C5141AE0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工作流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542E00-C8BE-4078-A01B-964CBC3A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811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当前证据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A9EE96-27DB-4B86-B21A-4F9512D0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5811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最后缺口 / 处置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236876-CA62-4EF2-958D-DF055E6E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D83654-461F-443D-98D7-76CAD935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真实模型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A961B1-BB14-41D5-8B0D-9B5085DA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19300"/>
            <a:ext cx="352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权重、训练日志、GPU 启动证据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A524AC-8DA3-4BF6-A8AE-C16BD04D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193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目标演示机补 10 分钟稳定性与 FPS 记录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CFEC37-B9D6-45BE-BA67-AC036310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0383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30061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0CA5C1-468A-4F98-89F0-B8BD4C67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D092CE-EE32-43A0-AA8D-61788981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无 GPU Harness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909F29-F4B8-490E-916C-BF5820BF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00350"/>
            <a:ext cx="352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23 tests OK；端到端 smoke passed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A2B3CC-0AED-42BC-9F3D-88AB7758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0035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明确只证明流程，不替代模型精度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C23330-AD69-4B1A-97DF-EA74C676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194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30061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1679CC-CF88-4980-A354-DF24D2D3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E0E929-EF8F-4C8B-BC26-01AF334E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ClawHive 适配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3004B2-2078-44A4-A4E5-EF8AE959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81400"/>
            <a:ext cx="352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Skill 包、字段契约、API 映射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4DD9D4-799A-4438-9A3A-D7581598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814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任务创建、幂等回写、租户审计接线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499F68-9402-409D-8EC0-82C3D5F6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004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30061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D43932-801A-4263-A2C4-77A23211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2C58E2-1D07-4CBF-AE1C-D9262B14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企业泛化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6009E3-7A66-43B3-9746-71DFE5FF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362450"/>
            <a:ext cx="352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MM-Fit 离线验证 93.15%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22E958-B305-4B09-9B33-4DD651F0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6245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固定考场并行试点，统计误拒与改判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A2A39D-524A-4DE7-A687-0FD3EC86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3815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30061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1D2F1C-FFAA-487B-9A2F-F2CC4135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D05FCA-498A-4979-B44F-09C89E76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可用性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56EBFC-F877-4361-B9B4-F4BDC261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143500"/>
            <a:ext cx="352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Ghost Coach 测试协议已建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0342F1-BCC5-41D3-9845-A9B9212A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435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当前真人参与者 0；完成 5 人测试后再主张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428D4E-14F0-4B8A-B5BB-507D1797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1625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30061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98705A-0FF7-45E9-ABFC-C85E4BCC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7D8EE7-4343-4BBD-9498-91456294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可信度来自清楚区分：已经跑通的、可以核验的、仍需试点的。</a:t>
            </a:r>
          </a:p>
        </p:txBody>
      </p:sp>
    </p:spTree>
    <p:extLst>
      <p:ext uri="{BB962C8B-B14F-4D97-AF65-F5344CB8AC3E}">
        <p14:creationId xmlns:p14="http://schemas.microsoft.com/office/powerpoint/2010/main" val="21135343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2026-08-30T11:30:34.3940000Z</dcterms:created>
  <dcterms:modified xsi:type="dcterms:W3CDTF">2026-08-30T11:30:34.3940000Z</dcterms:modified>
</coreProperties>
</file>